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5" r:id="rId7"/>
    <p:sldId id="262" r:id="rId8"/>
    <p:sldId id="263" r:id="rId9"/>
    <p:sldId id="267" r:id="rId10"/>
    <p:sldId id="261" r:id="rId11"/>
    <p:sldId id="264" r:id="rId12"/>
    <p:sldId id="266" r:id="rId13"/>
    <p:sldId id="268" r:id="rId14"/>
    <p:sldId id="269" r:id="rId15"/>
  </p:sldIdLst>
  <p:sldSz cx="18288000" cy="10287000"/>
  <p:notesSz cx="6858000" cy="9144000"/>
  <p:embeddedFontLst>
    <p:embeddedFont>
      <p:font typeface="Open Sauce" panose="020B0604020202020204" charset="0"/>
      <p:regular r:id="rId17"/>
    </p:embeddedFont>
    <p:embeddedFont>
      <p:font typeface="Open Sauce Bold" panose="020B0604020202020204" charset="0"/>
      <p:regular r:id="rId18"/>
    </p:embeddedFont>
    <p:embeddedFont>
      <p:font typeface="Open Sauce Heavy" panose="020B0604020202020204" charset="0"/>
      <p:regular r:id="rId19"/>
    </p:embeddedFont>
    <p:embeddedFont>
      <p:font typeface="Open Sauce Light"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322"/>
    <a:srgbClr val="00112A"/>
    <a:srgbClr val="000C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206" autoAdjust="0"/>
  </p:normalViewPr>
  <p:slideViewPr>
    <p:cSldViewPr>
      <p:cViewPr varScale="1">
        <p:scale>
          <a:sx n="68" d="100"/>
          <a:sy n="68" d="100"/>
        </p:scale>
        <p:origin x="708"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99C5C-D98A-458D-A0B7-5ED813CD7953}" type="datetimeFigureOut">
              <a:rPr lang="en-ZA" smtClean="0"/>
              <a:t>2026/07/08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319C3-90F0-41D7-B741-0029AB2840BA}" type="slidenum">
              <a:rPr lang="en-ZA" smtClean="0"/>
              <a:t>‹#›</a:t>
            </a:fld>
            <a:endParaRPr lang="en-ZA"/>
          </a:p>
        </p:txBody>
      </p:sp>
    </p:spTree>
    <p:extLst>
      <p:ext uri="{BB962C8B-B14F-4D97-AF65-F5344CB8AC3E}">
        <p14:creationId xmlns:p14="http://schemas.microsoft.com/office/powerpoint/2010/main" val="299015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E3319C3-90F0-41D7-B741-0029AB2840BA}" type="slidenum">
              <a:rPr lang="en-ZA" smtClean="0"/>
              <a:t>9</a:t>
            </a:fld>
            <a:endParaRPr lang="en-ZA" dirty="0"/>
          </a:p>
        </p:txBody>
      </p:sp>
    </p:spTree>
    <p:extLst>
      <p:ext uri="{BB962C8B-B14F-4D97-AF65-F5344CB8AC3E}">
        <p14:creationId xmlns:p14="http://schemas.microsoft.com/office/powerpoint/2010/main" val="2073097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0659522">
            <a:off x="-1207904" y="-1103140"/>
            <a:ext cx="6828748" cy="4084833"/>
          </a:xfrm>
          <a:custGeom>
            <a:avLst/>
            <a:gdLst/>
            <a:ahLst/>
            <a:cxnLst/>
            <a:rect l="l" t="t" r="r" b="b"/>
            <a:pathLst>
              <a:path w="6828748" h="4084833">
                <a:moveTo>
                  <a:pt x="0" y="0"/>
                </a:moveTo>
                <a:lnTo>
                  <a:pt x="6828747" y="0"/>
                </a:lnTo>
                <a:lnTo>
                  <a:pt x="6828747" y="4084833"/>
                </a:lnTo>
                <a:lnTo>
                  <a:pt x="0" y="4084833"/>
                </a:lnTo>
                <a:lnTo>
                  <a:pt x="0" y="0"/>
                </a:lnTo>
                <a:close/>
              </a:path>
            </a:pathLst>
          </a:custGeom>
          <a:blipFill>
            <a:blip r:embed="rId2">
              <a:alphaModFix amt="23000"/>
            </a:blip>
            <a:stretch>
              <a:fillRect/>
            </a:stretch>
          </a:blipFill>
        </p:spPr>
        <p:txBody>
          <a:bodyPr/>
          <a:lstStyle/>
          <a:p>
            <a:endParaRPr lang="en-US"/>
          </a:p>
        </p:txBody>
      </p:sp>
      <p:sp>
        <p:nvSpPr>
          <p:cNvPr id="3" name="TextBox 3"/>
          <p:cNvSpPr txBox="1"/>
          <p:nvPr/>
        </p:nvSpPr>
        <p:spPr>
          <a:xfrm>
            <a:off x="791740" y="3729623"/>
            <a:ext cx="14023571" cy="5251451"/>
          </a:xfrm>
          <a:prstGeom prst="rect">
            <a:avLst/>
          </a:prstGeom>
        </p:spPr>
        <p:txBody>
          <a:bodyPr wrap="square" lIns="0" tIns="0" rIns="0" bIns="0" rtlCol="0" anchor="t">
            <a:spAutoFit/>
          </a:bodyPr>
          <a:lstStyle/>
          <a:p>
            <a:pPr algn="l">
              <a:lnSpc>
                <a:spcPts val="13999"/>
              </a:lnSpc>
            </a:pPr>
            <a:r>
              <a:rPr lang="en-US" sz="9999" b="1" spc="-469" dirty="0">
                <a:solidFill>
                  <a:srgbClr val="424242"/>
                </a:solidFill>
                <a:latin typeface="Open Sauce Heavy"/>
                <a:ea typeface="Open Sauce Heavy"/>
                <a:cs typeface="Open Sauce Heavy"/>
                <a:sym typeface="Open Sauce Heavy"/>
              </a:rPr>
              <a:t>Student enquiry management use case analysis</a:t>
            </a:r>
          </a:p>
        </p:txBody>
      </p:sp>
      <p:grpSp>
        <p:nvGrpSpPr>
          <p:cNvPr id="4" name="Group 4"/>
          <p:cNvGrpSpPr/>
          <p:nvPr/>
        </p:nvGrpSpPr>
        <p:grpSpPr>
          <a:xfrm>
            <a:off x="6211163" y="8314671"/>
            <a:ext cx="498714" cy="49871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4242"/>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sp>
        <p:nvSpPr>
          <p:cNvPr id="7" name="AutoShape 7"/>
          <p:cNvSpPr/>
          <p:nvPr/>
        </p:nvSpPr>
        <p:spPr>
          <a:xfrm>
            <a:off x="1045163" y="1480091"/>
            <a:ext cx="16214137" cy="0"/>
          </a:xfrm>
          <a:prstGeom prst="line">
            <a:avLst/>
          </a:prstGeom>
          <a:ln w="19050" cap="flat">
            <a:solidFill>
              <a:srgbClr val="424242"/>
            </a:solidFill>
            <a:prstDash val="solid"/>
            <a:headEnd type="none" w="sm" len="sm"/>
            <a:tailEnd type="none" w="sm" len="sm"/>
          </a:ln>
        </p:spPr>
        <p:txBody>
          <a:bodyPr/>
          <a:lstStyle/>
          <a:p>
            <a:endParaRPr lang="en-US"/>
          </a:p>
        </p:txBody>
      </p:sp>
      <p:sp>
        <p:nvSpPr>
          <p:cNvPr id="10" name="TextBox 10"/>
          <p:cNvSpPr txBox="1"/>
          <p:nvPr/>
        </p:nvSpPr>
        <p:spPr>
          <a:xfrm>
            <a:off x="13809146" y="622579"/>
            <a:ext cx="3450154" cy="281559"/>
          </a:xfrm>
          <a:prstGeom prst="rect">
            <a:avLst/>
          </a:prstGeom>
        </p:spPr>
        <p:txBody>
          <a:bodyPr lIns="0" tIns="0" rIns="0" bIns="0" rtlCol="0" anchor="t">
            <a:spAutoFit/>
          </a:bodyPr>
          <a:lstStyle/>
          <a:p>
            <a:pPr algn="r">
              <a:lnSpc>
                <a:spcPts val="2268"/>
              </a:lnSpc>
            </a:pPr>
            <a:r>
              <a:rPr lang="en-US" sz="1800" b="1" spc="-100" dirty="0">
                <a:solidFill>
                  <a:srgbClr val="424242"/>
                </a:solidFill>
                <a:latin typeface="Open Sauce Bold"/>
                <a:ea typeface="Open Sauce Bold"/>
                <a:cs typeface="Open Sauce Bold"/>
                <a:sym typeface="Open Sauce Bold"/>
              </a:rPr>
              <a:t>Presented by :</a:t>
            </a:r>
          </a:p>
        </p:txBody>
      </p:sp>
      <p:sp>
        <p:nvSpPr>
          <p:cNvPr id="11" name="TextBox 11"/>
          <p:cNvSpPr txBox="1"/>
          <p:nvPr/>
        </p:nvSpPr>
        <p:spPr>
          <a:xfrm>
            <a:off x="13809146" y="920227"/>
            <a:ext cx="3450154" cy="318135"/>
          </a:xfrm>
          <a:prstGeom prst="rect">
            <a:avLst/>
          </a:prstGeom>
        </p:spPr>
        <p:txBody>
          <a:bodyPr lIns="0" tIns="0" rIns="0" bIns="0" rtlCol="0" anchor="t">
            <a:spAutoFit/>
          </a:bodyPr>
          <a:lstStyle/>
          <a:p>
            <a:pPr algn="r">
              <a:lnSpc>
                <a:spcPts val="2520"/>
              </a:lnSpc>
            </a:pPr>
            <a:r>
              <a:rPr lang="en-US" sz="2000" spc="-112" dirty="0">
                <a:solidFill>
                  <a:srgbClr val="424242"/>
                </a:solidFill>
                <a:latin typeface="Open Sauce"/>
                <a:ea typeface="Open Sauce"/>
                <a:cs typeface="Open Sauce"/>
                <a:sym typeface="Open Sauce"/>
              </a:rPr>
              <a:t>Bianca Kubayi</a:t>
            </a:r>
          </a:p>
        </p:txBody>
      </p:sp>
      <p:sp>
        <p:nvSpPr>
          <p:cNvPr id="12" name="Freeform 12"/>
          <p:cNvSpPr/>
          <p:nvPr/>
        </p:nvSpPr>
        <p:spPr>
          <a:xfrm rot="3525354">
            <a:off x="-3482278" y="4572433"/>
            <a:ext cx="9054882" cy="7484475"/>
          </a:xfrm>
          <a:custGeom>
            <a:avLst/>
            <a:gdLst/>
            <a:ahLst/>
            <a:cxnLst/>
            <a:rect l="l" t="t" r="r" b="b"/>
            <a:pathLst>
              <a:path w="9054882" h="7484475">
                <a:moveTo>
                  <a:pt x="0" y="0"/>
                </a:moveTo>
                <a:lnTo>
                  <a:pt x="9054882" y="0"/>
                </a:lnTo>
                <a:lnTo>
                  <a:pt x="9054882" y="7484475"/>
                </a:lnTo>
                <a:lnTo>
                  <a:pt x="0" y="7484475"/>
                </a:lnTo>
                <a:lnTo>
                  <a:pt x="0" y="0"/>
                </a:lnTo>
                <a:close/>
              </a:path>
            </a:pathLst>
          </a:custGeom>
          <a:blipFill>
            <a:blip r:embed="rId3">
              <a:alphaModFix amt="26000"/>
            </a:blip>
            <a:stretch>
              <a:fillRect l="-19090" r="-19090"/>
            </a:stretch>
          </a:blipFill>
        </p:spPr>
        <p:txBody>
          <a:bodyPr/>
          <a:lstStyle/>
          <a:p>
            <a:endParaRPr lang="en-Z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925852">
            <a:off x="-4210737" y="-1290849"/>
            <a:ext cx="12778145" cy="14372147"/>
          </a:xfrm>
          <a:custGeom>
            <a:avLst/>
            <a:gdLst/>
            <a:ahLst/>
            <a:cxnLst/>
            <a:rect l="l" t="t" r="r" b="b"/>
            <a:pathLst>
              <a:path w="12778145" h="14372147">
                <a:moveTo>
                  <a:pt x="0" y="0"/>
                </a:moveTo>
                <a:lnTo>
                  <a:pt x="12778145" y="0"/>
                </a:lnTo>
                <a:lnTo>
                  <a:pt x="12778145" y="14372147"/>
                </a:lnTo>
                <a:lnTo>
                  <a:pt x="0" y="14372147"/>
                </a:lnTo>
                <a:lnTo>
                  <a:pt x="0" y="0"/>
                </a:lnTo>
                <a:close/>
              </a:path>
            </a:pathLst>
          </a:custGeom>
          <a:blipFill>
            <a:blip r:embed="rId4">
              <a:alphaModFix amt="25000"/>
            </a:blip>
            <a:stretch>
              <a:fillRect/>
            </a:stretch>
          </a:blipFill>
        </p:spPr>
        <p:txBody>
          <a:bodyPr/>
          <a:lstStyle/>
          <a:p>
            <a:endParaRPr lang="en-US"/>
          </a:p>
        </p:txBody>
      </p:sp>
      <p:sp>
        <p:nvSpPr>
          <p:cNvPr id="4" name="Freeform 4"/>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5">
              <a:alphaModFix amt="25000"/>
            </a:blip>
            <a:stretch>
              <a:fillRect/>
            </a:stretch>
          </a:blipFill>
        </p:spPr>
        <p:txBody>
          <a:bodyPr/>
          <a:lstStyle/>
          <a:p>
            <a:endParaRPr lang="en-US"/>
          </a:p>
        </p:txBody>
      </p:sp>
      <p:grpSp>
        <p:nvGrpSpPr>
          <p:cNvPr id="5" name="Group 5"/>
          <p:cNvGrpSpPr/>
          <p:nvPr/>
        </p:nvGrpSpPr>
        <p:grpSpPr>
          <a:xfrm>
            <a:off x="9268640" y="-1913484"/>
            <a:ext cx="8120948" cy="14062990"/>
            <a:chOff x="0" y="0"/>
            <a:chExt cx="2138850" cy="3703833"/>
          </a:xfrm>
        </p:grpSpPr>
        <p:sp>
          <p:nvSpPr>
            <p:cNvPr id="6" name="Freeform 6"/>
            <p:cNvSpPr/>
            <p:nvPr/>
          </p:nvSpPr>
          <p:spPr>
            <a:xfrm>
              <a:off x="0" y="0"/>
              <a:ext cx="2138850" cy="3703833"/>
            </a:xfrm>
            <a:custGeom>
              <a:avLst/>
              <a:gdLst/>
              <a:ahLst/>
              <a:cxnLst/>
              <a:rect l="l" t="t" r="r" b="b"/>
              <a:pathLst>
                <a:path w="2138850" h="3703833">
                  <a:moveTo>
                    <a:pt x="38133" y="0"/>
                  </a:moveTo>
                  <a:lnTo>
                    <a:pt x="2100717" y="0"/>
                  </a:lnTo>
                  <a:cubicBezTo>
                    <a:pt x="2110831" y="0"/>
                    <a:pt x="2120530" y="4018"/>
                    <a:pt x="2127682" y="11169"/>
                  </a:cubicBezTo>
                  <a:cubicBezTo>
                    <a:pt x="2134833" y="18320"/>
                    <a:pt x="2138850" y="28020"/>
                    <a:pt x="2138850" y="38133"/>
                  </a:cubicBezTo>
                  <a:lnTo>
                    <a:pt x="2138850" y="3665700"/>
                  </a:lnTo>
                  <a:cubicBezTo>
                    <a:pt x="2138850" y="3675813"/>
                    <a:pt x="2134833" y="3685513"/>
                    <a:pt x="2127682" y="3692664"/>
                  </a:cubicBezTo>
                  <a:cubicBezTo>
                    <a:pt x="2120530" y="3699815"/>
                    <a:pt x="2110831" y="3703833"/>
                    <a:pt x="2100717" y="3703833"/>
                  </a:cubicBezTo>
                  <a:lnTo>
                    <a:pt x="38133" y="3703833"/>
                  </a:lnTo>
                  <a:cubicBezTo>
                    <a:pt x="28020" y="3703833"/>
                    <a:pt x="18320" y="3699815"/>
                    <a:pt x="11169" y="3692664"/>
                  </a:cubicBezTo>
                  <a:cubicBezTo>
                    <a:pt x="4018" y="3685513"/>
                    <a:pt x="0" y="3675813"/>
                    <a:pt x="0" y="3665700"/>
                  </a:cubicBezTo>
                  <a:lnTo>
                    <a:pt x="0" y="38133"/>
                  </a:lnTo>
                  <a:cubicBezTo>
                    <a:pt x="0" y="28020"/>
                    <a:pt x="4018" y="18320"/>
                    <a:pt x="11169" y="11169"/>
                  </a:cubicBezTo>
                  <a:cubicBezTo>
                    <a:pt x="18320" y="4018"/>
                    <a:pt x="28020" y="0"/>
                    <a:pt x="38133" y="0"/>
                  </a:cubicBezTo>
                  <a:close/>
                </a:path>
              </a:pathLst>
            </a:custGeom>
            <a:solidFill>
              <a:srgbClr val="D0D7DD"/>
            </a:solidFill>
            <a:ln w="19050" cap="rnd">
              <a:solidFill>
                <a:srgbClr val="424242"/>
              </a:solidFill>
              <a:prstDash val="solid"/>
              <a:round/>
            </a:ln>
          </p:spPr>
          <p:txBody>
            <a:bodyPr/>
            <a:lstStyle/>
            <a:p>
              <a:endParaRPr lang="en-US"/>
            </a:p>
          </p:txBody>
        </p:sp>
        <p:sp>
          <p:nvSpPr>
            <p:cNvPr id="7" name="TextBox 7"/>
            <p:cNvSpPr txBox="1"/>
            <p:nvPr/>
          </p:nvSpPr>
          <p:spPr>
            <a:xfrm>
              <a:off x="0" y="-28575"/>
              <a:ext cx="2138850" cy="3732408"/>
            </a:xfrm>
            <a:prstGeom prst="rect">
              <a:avLst/>
            </a:prstGeom>
          </p:spPr>
          <p:txBody>
            <a:bodyPr lIns="50800" tIns="50800" rIns="50800" bIns="50800" rtlCol="0" anchor="ctr"/>
            <a:lstStyle/>
            <a:p>
              <a:pPr algn="ctr">
                <a:lnSpc>
                  <a:spcPts val="2015"/>
                </a:lnSpc>
              </a:pPr>
              <a:endParaRPr dirty="0"/>
            </a:p>
          </p:txBody>
        </p:sp>
      </p:grpSp>
      <p:sp>
        <p:nvSpPr>
          <p:cNvPr id="9" name="TextBox 9"/>
          <p:cNvSpPr txBox="1"/>
          <p:nvPr/>
        </p:nvSpPr>
        <p:spPr>
          <a:xfrm>
            <a:off x="628704" y="3526438"/>
            <a:ext cx="7628749" cy="3009345"/>
          </a:xfrm>
          <a:prstGeom prst="rect">
            <a:avLst/>
          </a:prstGeom>
        </p:spPr>
        <p:txBody>
          <a:bodyPr lIns="0" tIns="0" rIns="0" bIns="0" rtlCol="0" anchor="t">
            <a:spAutoFit/>
          </a:bodyPr>
          <a:lstStyle/>
          <a:p>
            <a:pPr algn="l">
              <a:lnSpc>
                <a:spcPts val="11464"/>
              </a:lnSpc>
            </a:pPr>
            <a:r>
              <a:rPr lang="en-US" sz="12196" b="1" spc="-573" dirty="0">
                <a:solidFill>
                  <a:srgbClr val="424242"/>
                </a:solidFill>
                <a:latin typeface="Open Sauce Heavy"/>
                <a:ea typeface="Open Sauce Heavy"/>
                <a:cs typeface="Open Sauce Heavy"/>
                <a:sym typeface="Open Sauce Heavy"/>
              </a:rPr>
              <a:t>Today’s Agenda</a:t>
            </a:r>
          </a:p>
        </p:txBody>
      </p:sp>
      <p:sp>
        <p:nvSpPr>
          <p:cNvPr id="10" name="TextBox 10"/>
          <p:cNvSpPr txBox="1"/>
          <p:nvPr/>
        </p:nvSpPr>
        <p:spPr>
          <a:xfrm>
            <a:off x="10214225" y="1341867"/>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01</a:t>
            </a:r>
          </a:p>
        </p:txBody>
      </p:sp>
      <p:sp>
        <p:nvSpPr>
          <p:cNvPr id="11" name="TextBox 11"/>
          <p:cNvSpPr txBox="1"/>
          <p:nvPr/>
        </p:nvSpPr>
        <p:spPr>
          <a:xfrm>
            <a:off x="10214225" y="2155661"/>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02</a:t>
            </a:r>
          </a:p>
        </p:txBody>
      </p:sp>
      <p:sp>
        <p:nvSpPr>
          <p:cNvPr id="12" name="TextBox 12"/>
          <p:cNvSpPr txBox="1"/>
          <p:nvPr/>
        </p:nvSpPr>
        <p:spPr>
          <a:xfrm>
            <a:off x="11409213" y="1341867"/>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Introduction</a:t>
            </a:r>
          </a:p>
        </p:txBody>
      </p:sp>
      <p:sp>
        <p:nvSpPr>
          <p:cNvPr id="13" name="TextBox 13"/>
          <p:cNvSpPr txBox="1"/>
          <p:nvPr/>
        </p:nvSpPr>
        <p:spPr>
          <a:xfrm>
            <a:off x="11409213" y="2155661"/>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Problem Statement</a:t>
            </a:r>
          </a:p>
        </p:txBody>
      </p:sp>
      <p:sp>
        <p:nvSpPr>
          <p:cNvPr id="14" name="TextBox 14"/>
          <p:cNvSpPr txBox="1"/>
          <p:nvPr/>
        </p:nvSpPr>
        <p:spPr>
          <a:xfrm>
            <a:off x="10214225" y="2969455"/>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03</a:t>
            </a:r>
          </a:p>
        </p:txBody>
      </p:sp>
      <p:sp>
        <p:nvSpPr>
          <p:cNvPr id="15" name="TextBox 15"/>
          <p:cNvSpPr txBox="1"/>
          <p:nvPr/>
        </p:nvSpPr>
        <p:spPr>
          <a:xfrm>
            <a:off x="11409213" y="2969455"/>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Current state analysis</a:t>
            </a:r>
          </a:p>
        </p:txBody>
      </p:sp>
      <p:sp>
        <p:nvSpPr>
          <p:cNvPr id="16" name="TextBox 16"/>
          <p:cNvSpPr txBox="1"/>
          <p:nvPr/>
        </p:nvSpPr>
        <p:spPr>
          <a:xfrm>
            <a:off x="10214225" y="3783249"/>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04</a:t>
            </a:r>
          </a:p>
        </p:txBody>
      </p:sp>
      <p:sp>
        <p:nvSpPr>
          <p:cNvPr id="17" name="TextBox 17"/>
          <p:cNvSpPr txBox="1"/>
          <p:nvPr/>
        </p:nvSpPr>
        <p:spPr>
          <a:xfrm>
            <a:off x="11409213" y="3783249"/>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Business requirement definition</a:t>
            </a:r>
          </a:p>
        </p:txBody>
      </p:sp>
      <p:sp>
        <p:nvSpPr>
          <p:cNvPr id="18" name="TextBox 18"/>
          <p:cNvSpPr txBox="1"/>
          <p:nvPr/>
        </p:nvSpPr>
        <p:spPr>
          <a:xfrm>
            <a:off x="10214225" y="4597043"/>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05</a:t>
            </a:r>
          </a:p>
        </p:txBody>
      </p:sp>
      <p:sp>
        <p:nvSpPr>
          <p:cNvPr id="19" name="TextBox 19"/>
          <p:cNvSpPr txBox="1"/>
          <p:nvPr/>
        </p:nvSpPr>
        <p:spPr>
          <a:xfrm>
            <a:off x="11409213" y="4597043"/>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Improvement opportunity</a:t>
            </a:r>
          </a:p>
        </p:txBody>
      </p:sp>
      <p:sp>
        <p:nvSpPr>
          <p:cNvPr id="20" name="TextBox 20"/>
          <p:cNvSpPr txBox="1"/>
          <p:nvPr/>
        </p:nvSpPr>
        <p:spPr>
          <a:xfrm>
            <a:off x="10214225" y="5410838"/>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06</a:t>
            </a:r>
          </a:p>
        </p:txBody>
      </p:sp>
      <p:sp>
        <p:nvSpPr>
          <p:cNvPr id="21" name="TextBox 21"/>
          <p:cNvSpPr txBox="1"/>
          <p:nvPr/>
        </p:nvSpPr>
        <p:spPr>
          <a:xfrm>
            <a:off x="11409213" y="5410838"/>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Engagement plan</a:t>
            </a:r>
          </a:p>
        </p:txBody>
      </p:sp>
      <p:sp>
        <p:nvSpPr>
          <p:cNvPr id="22" name="TextBox 22"/>
          <p:cNvSpPr txBox="1"/>
          <p:nvPr/>
        </p:nvSpPr>
        <p:spPr>
          <a:xfrm>
            <a:off x="10214225" y="6224632"/>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07</a:t>
            </a:r>
          </a:p>
        </p:txBody>
      </p:sp>
      <p:sp>
        <p:nvSpPr>
          <p:cNvPr id="23" name="TextBox 23"/>
          <p:cNvSpPr txBox="1"/>
          <p:nvPr/>
        </p:nvSpPr>
        <p:spPr>
          <a:xfrm>
            <a:off x="11409213" y="6224632"/>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Summary </a:t>
            </a:r>
          </a:p>
        </p:txBody>
      </p:sp>
      <p:sp>
        <p:nvSpPr>
          <p:cNvPr id="24" name="TextBox 24"/>
          <p:cNvSpPr txBox="1"/>
          <p:nvPr/>
        </p:nvSpPr>
        <p:spPr>
          <a:xfrm>
            <a:off x="10214225" y="7038426"/>
            <a:ext cx="930834" cy="311150"/>
          </a:xfrm>
          <a:prstGeom prst="rect">
            <a:avLst/>
          </a:prstGeom>
        </p:spPr>
        <p:txBody>
          <a:bodyPr lIns="0" tIns="0" rIns="0" bIns="0" rtlCol="0" anchor="t">
            <a:spAutoFit/>
          </a:bodyPr>
          <a:lstStyle/>
          <a:p>
            <a:pPr algn="ctr">
              <a:lnSpc>
                <a:spcPts val="2350"/>
              </a:lnSpc>
            </a:pPr>
            <a:r>
              <a:rPr lang="en-US" sz="2500" b="1" spc="-117" dirty="0">
                <a:solidFill>
                  <a:srgbClr val="424242"/>
                </a:solidFill>
                <a:latin typeface="Open Sauce Heavy"/>
                <a:ea typeface="Open Sauce Heavy"/>
                <a:cs typeface="Open Sauce Heavy"/>
                <a:sym typeface="Open Sauce Heavy"/>
              </a:rPr>
              <a:t>08</a:t>
            </a:r>
          </a:p>
        </p:txBody>
      </p:sp>
      <p:sp>
        <p:nvSpPr>
          <p:cNvPr id="25" name="TextBox 25"/>
          <p:cNvSpPr txBox="1"/>
          <p:nvPr/>
        </p:nvSpPr>
        <p:spPr>
          <a:xfrm>
            <a:off x="11409213" y="7038426"/>
            <a:ext cx="5466983" cy="311150"/>
          </a:xfrm>
          <a:prstGeom prst="rect">
            <a:avLst/>
          </a:prstGeom>
        </p:spPr>
        <p:txBody>
          <a:bodyPr lIns="0" tIns="0" rIns="0" bIns="0" rtlCol="0" anchor="t">
            <a:spAutoFit/>
          </a:bodyPr>
          <a:lstStyle/>
          <a:p>
            <a:pPr algn="l">
              <a:lnSpc>
                <a:spcPts val="2350"/>
              </a:lnSpc>
            </a:pPr>
            <a:r>
              <a:rPr lang="en-US" sz="2500" spc="-117" dirty="0">
                <a:solidFill>
                  <a:srgbClr val="424242"/>
                </a:solidFill>
                <a:latin typeface="Open Sauce"/>
                <a:ea typeface="Open Sauce"/>
                <a:cs typeface="Open Sauce"/>
                <a:sym typeface="Open Sauce"/>
              </a:rPr>
              <a:t>Q &amp;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1000" fill="hold"/>
                                        <p:tgtEl>
                                          <p:spTgt spid="11"/>
                                        </p:tgtEl>
                                        <p:attrNameLst>
                                          <p:attrName>ppt_w</p:attrName>
                                        </p:attrNameLst>
                                      </p:cBhvr>
                                      <p:tavLst>
                                        <p:tav tm="0">
                                          <p:val>
                                            <p:fltVal val="0"/>
                                          </p:val>
                                        </p:tav>
                                        <p:tav tm="100000">
                                          <p:val>
                                            <p:strVal val="#ppt_w"/>
                                          </p:val>
                                        </p:tav>
                                      </p:tavLst>
                                    </p:anim>
                                    <p:anim calcmode="lin" valueType="num">
                                      <p:cBhvr>
                                        <p:cTn id="14" dur="1000" fill="hold"/>
                                        <p:tgtEl>
                                          <p:spTgt spid="11"/>
                                        </p:tgtEl>
                                        <p:attrNameLst>
                                          <p:attrName>ppt_h</p:attrName>
                                        </p:attrNameLst>
                                      </p:cBhvr>
                                      <p:tavLst>
                                        <p:tav tm="0">
                                          <p:val>
                                            <p:fltVal val="0"/>
                                          </p:val>
                                        </p:tav>
                                        <p:tav tm="100000">
                                          <p:val>
                                            <p:strVal val="#ppt_h"/>
                                          </p:val>
                                        </p:tav>
                                      </p:tavLst>
                                    </p:anim>
                                    <p:anim calcmode="lin" valueType="num">
                                      <p:cBhvr>
                                        <p:cTn id="15" dur="1000" fill="hold"/>
                                        <p:tgtEl>
                                          <p:spTgt spid="11"/>
                                        </p:tgtEl>
                                        <p:attrNameLst>
                                          <p:attrName>style.rotation</p:attrName>
                                        </p:attrNameLst>
                                      </p:cBhvr>
                                      <p:tavLst>
                                        <p:tav tm="0">
                                          <p:val>
                                            <p:fltVal val="90"/>
                                          </p:val>
                                        </p:tav>
                                        <p:tav tm="100000">
                                          <p:val>
                                            <p:fltVal val="0"/>
                                          </p:val>
                                        </p:tav>
                                      </p:tavLst>
                                    </p:anim>
                                    <p:animEffect transition="in" filter="fade">
                                      <p:cBhvr>
                                        <p:cTn id="16" dur="1000"/>
                                        <p:tgtEl>
                                          <p:spTgt spid="11"/>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fltVal val="0"/>
                                          </p:val>
                                        </p:tav>
                                        <p:tav tm="100000">
                                          <p:val>
                                            <p:strVal val="#ppt_w"/>
                                          </p:val>
                                        </p:tav>
                                      </p:tavLst>
                                    </p:anim>
                                    <p:anim calcmode="lin" valueType="num">
                                      <p:cBhvr>
                                        <p:cTn id="20" dur="1000" fill="hold"/>
                                        <p:tgtEl>
                                          <p:spTgt spid="12"/>
                                        </p:tgtEl>
                                        <p:attrNameLst>
                                          <p:attrName>ppt_h</p:attrName>
                                        </p:attrNameLst>
                                      </p:cBhvr>
                                      <p:tavLst>
                                        <p:tav tm="0">
                                          <p:val>
                                            <p:fltVal val="0"/>
                                          </p:val>
                                        </p:tav>
                                        <p:tav tm="100000">
                                          <p:val>
                                            <p:strVal val="#ppt_h"/>
                                          </p:val>
                                        </p:tav>
                                      </p:tavLst>
                                    </p:anim>
                                    <p:anim calcmode="lin" valueType="num">
                                      <p:cBhvr>
                                        <p:cTn id="21" dur="1000" fill="hold"/>
                                        <p:tgtEl>
                                          <p:spTgt spid="12"/>
                                        </p:tgtEl>
                                        <p:attrNameLst>
                                          <p:attrName>style.rotation</p:attrName>
                                        </p:attrNameLst>
                                      </p:cBhvr>
                                      <p:tavLst>
                                        <p:tav tm="0">
                                          <p:val>
                                            <p:fltVal val="90"/>
                                          </p:val>
                                        </p:tav>
                                        <p:tav tm="100000">
                                          <p:val>
                                            <p:fltVal val="0"/>
                                          </p:val>
                                        </p:tav>
                                      </p:tavLst>
                                    </p:anim>
                                    <p:animEffect transition="in" filter="fade">
                                      <p:cBhvr>
                                        <p:cTn id="22" dur="1000"/>
                                        <p:tgtEl>
                                          <p:spTgt spid="12"/>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1000" fill="hold"/>
                                        <p:tgtEl>
                                          <p:spTgt spid="13"/>
                                        </p:tgtEl>
                                        <p:attrNameLst>
                                          <p:attrName>ppt_w</p:attrName>
                                        </p:attrNameLst>
                                      </p:cBhvr>
                                      <p:tavLst>
                                        <p:tav tm="0">
                                          <p:val>
                                            <p:fltVal val="0"/>
                                          </p:val>
                                        </p:tav>
                                        <p:tav tm="100000">
                                          <p:val>
                                            <p:strVal val="#ppt_w"/>
                                          </p:val>
                                        </p:tav>
                                      </p:tavLst>
                                    </p:anim>
                                    <p:anim calcmode="lin" valueType="num">
                                      <p:cBhvr>
                                        <p:cTn id="26" dur="1000" fill="hold"/>
                                        <p:tgtEl>
                                          <p:spTgt spid="13"/>
                                        </p:tgtEl>
                                        <p:attrNameLst>
                                          <p:attrName>ppt_h</p:attrName>
                                        </p:attrNameLst>
                                      </p:cBhvr>
                                      <p:tavLst>
                                        <p:tav tm="0">
                                          <p:val>
                                            <p:fltVal val="0"/>
                                          </p:val>
                                        </p:tav>
                                        <p:tav tm="100000">
                                          <p:val>
                                            <p:strVal val="#ppt_h"/>
                                          </p:val>
                                        </p:tav>
                                      </p:tavLst>
                                    </p:anim>
                                    <p:anim calcmode="lin" valueType="num">
                                      <p:cBhvr>
                                        <p:cTn id="27" dur="1000" fill="hold"/>
                                        <p:tgtEl>
                                          <p:spTgt spid="13"/>
                                        </p:tgtEl>
                                        <p:attrNameLst>
                                          <p:attrName>style.rotation</p:attrName>
                                        </p:attrNameLst>
                                      </p:cBhvr>
                                      <p:tavLst>
                                        <p:tav tm="0">
                                          <p:val>
                                            <p:fltVal val="90"/>
                                          </p:val>
                                        </p:tav>
                                        <p:tav tm="100000">
                                          <p:val>
                                            <p:fltVal val="0"/>
                                          </p:val>
                                        </p:tav>
                                      </p:tavLst>
                                    </p:anim>
                                    <p:animEffect transition="in" filter="fade">
                                      <p:cBhvr>
                                        <p:cTn id="28" dur="1000"/>
                                        <p:tgtEl>
                                          <p:spTgt spid="13"/>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1000" fill="hold"/>
                                        <p:tgtEl>
                                          <p:spTgt spid="14"/>
                                        </p:tgtEl>
                                        <p:attrNameLst>
                                          <p:attrName>ppt_w</p:attrName>
                                        </p:attrNameLst>
                                      </p:cBhvr>
                                      <p:tavLst>
                                        <p:tav tm="0">
                                          <p:val>
                                            <p:fltVal val="0"/>
                                          </p:val>
                                        </p:tav>
                                        <p:tav tm="100000">
                                          <p:val>
                                            <p:strVal val="#ppt_w"/>
                                          </p:val>
                                        </p:tav>
                                      </p:tavLst>
                                    </p:anim>
                                    <p:anim calcmode="lin" valueType="num">
                                      <p:cBhvr>
                                        <p:cTn id="32" dur="1000" fill="hold"/>
                                        <p:tgtEl>
                                          <p:spTgt spid="14"/>
                                        </p:tgtEl>
                                        <p:attrNameLst>
                                          <p:attrName>ppt_h</p:attrName>
                                        </p:attrNameLst>
                                      </p:cBhvr>
                                      <p:tavLst>
                                        <p:tav tm="0">
                                          <p:val>
                                            <p:fltVal val="0"/>
                                          </p:val>
                                        </p:tav>
                                        <p:tav tm="100000">
                                          <p:val>
                                            <p:strVal val="#ppt_h"/>
                                          </p:val>
                                        </p:tav>
                                      </p:tavLst>
                                    </p:anim>
                                    <p:anim calcmode="lin" valueType="num">
                                      <p:cBhvr>
                                        <p:cTn id="33" dur="1000" fill="hold"/>
                                        <p:tgtEl>
                                          <p:spTgt spid="14"/>
                                        </p:tgtEl>
                                        <p:attrNameLst>
                                          <p:attrName>style.rotation</p:attrName>
                                        </p:attrNameLst>
                                      </p:cBhvr>
                                      <p:tavLst>
                                        <p:tav tm="0">
                                          <p:val>
                                            <p:fltVal val="90"/>
                                          </p:val>
                                        </p:tav>
                                        <p:tav tm="100000">
                                          <p:val>
                                            <p:fltVal val="0"/>
                                          </p:val>
                                        </p:tav>
                                      </p:tavLst>
                                    </p:anim>
                                    <p:animEffect transition="in" filter="fade">
                                      <p:cBhvr>
                                        <p:cTn id="34" dur="1000"/>
                                        <p:tgtEl>
                                          <p:spTgt spid="14"/>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1000" fill="hold"/>
                                        <p:tgtEl>
                                          <p:spTgt spid="15"/>
                                        </p:tgtEl>
                                        <p:attrNameLst>
                                          <p:attrName>ppt_w</p:attrName>
                                        </p:attrNameLst>
                                      </p:cBhvr>
                                      <p:tavLst>
                                        <p:tav tm="0">
                                          <p:val>
                                            <p:fltVal val="0"/>
                                          </p:val>
                                        </p:tav>
                                        <p:tav tm="100000">
                                          <p:val>
                                            <p:strVal val="#ppt_w"/>
                                          </p:val>
                                        </p:tav>
                                      </p:tavLst>
                                    </p:anim>
                                    <p:anim calcmode="lin" valueType="num">
                                      <p:cBhvr>
                                        <p:cTn id="38" dur="1000" fill="hold"/>
                                        <p:tgtEl>
                                          <p:spTgt spid="15"/>
                                        </p:tgtEl>
                                        <p:attrNameLst>
                                          <p:attrName>ppt_h</p:attrName>
                                        </p:attrNameLst>
                                      </p:cBhvr>
                                      <p:tavLst>
                                        <p:tav tm="0">
                                          <p:val>
                                            <p:fltVal val="0"/>
                                          </p:val>
                                        </p:tav>
                                        <p:tav tm="100000">
                                          <p:val>
                                            <p:strVal val="#ppt_h"/>
                                          </p:val>
                                        </p:tav>
                                      </p:tavLst>
                                    </p:anim>
                                    <p:anim calcmode="lin" valueType="num">
                                      <p:cBhvr>
                                        <p:cTn id="39" dur="1000" fill="hold"/>
                                        <p:tgtEl>
                                          <p:spTgt spid="15"/>
                                        </p:tgtEl>
                                        <p:attrNameLst>
                                          <p:attrName>style.rotation</p:attrName>
                                        </p:attrNameLst>
                                      </p:cBhvr>
                                      <p:tavLst>
                                        <p:tav tm="0">
                                          <p:val>
                                            <p:fltVal val="90"/>
                                          </p:val>
                                        </p:tav>
                                        <p:tav tm="100000">
                                          <p:val>
                                            <p:fltVal val="0"/>
                                          </p:val>
                                        </p:tav>
                                      </p:tavLst>
                                    </p:anim>
                                    <p:animEffect transition="in" filter="fade">
                                      <p:cBhvr>
                                        <p:cTn id="40" dur="1000"/>
                                        <p:tgtEl>
                                          <p:spTgt spid="15"/>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1000" fill="hold"/>
                                        <p:tgtEl>
                                          <p:spTgt spid="16"/>
                                        </p:tgtEl>
                                        <p:attrNameLst>
                                          <p:attrName>ppt_w</p:attrName>
                                        </p:attrNameLst>
                                      </p:cBhvr>
                                      <p:tavLst>
                                        <p:tav tm="0">
                                          <p:val>
                                            <p:fltVal val="0"/>
                                          </p:val>
                                        </p:tav>
                                        <p:tav tm="100000">
                                          <p:val>
                                            <p:strVal val="#ppt_w"/>
                                          </p:val>
                                        </p:tav>
                                      </p:tavLst>
                                    </p:anim>
                                    <p:anim calcmode="lin" valueType="num">
                                      <p:cBhvr>
                                        <p:cTn id="44" dur="1000" fill="hold"/>
                                        <p:tgtEl>
                                          <p:spTgt spid="16"/>
                                        </p:tgtEl>
                                        <p:attrNameLst>
                                          <p:attrName>ppt_h</p:attrName>
                                        </p:attrNameLst>
                                      </p:cBhvr>
                                      <p:tavLst>
                                        <p:tav tm="0">
                                          <p:val>
                                            <p:fltVal val="0"/>
                                          </p:val>
                                        </p:tav>
                                        <p:tav tm="100000">
                                          <p:val>
                                            <p:strVal val="#ppt_h"/>
                                          </p:val>
                                        </p:tav>
                                      </p:tavLst>
                                    </p:anim>
                                    <p:anim calcmode="lin" valueType="num">
                                      <p:cBhvr>
                                        <p:cTn id="45" dur="1000" fill="hold"/>
                                        <p:tgtEl>
                                          <p:spTgt spid="16"/>
                                        </p:tgtEl>
                                        <p:attrNameLst>
                                          <p:attrName>style.rotation</p:attrName>
                                        </p:attrNameLst>
                                      </p:cBhvr>
                                      <p:tavLst>
                                        <p:tav tm="0">
                                          <p:val>
                                            <p:fltVal val="90"/>
                                          </p:val>
                                        </p:tav>
                                        <p:tav tm="100000">
                                          <p:val>
                                            <p:fltVal val="0"/>
                                          </p:val>
                                        </p:tav>
                                      </p:tavLst>
                                    </p:anim>
                                    <p:animEffect transition="in" filter="fade">
                                      <p:cBhvr>
                                        <p:cTn id="46" dur="1000"/>
                                        <p:tgtEl>
                                          <p:spTgt spid="16"/>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1000" fill="hold"/>
                                        <p:tgtEl>
                                          <p:spTgt spid="17"/>
                                        </p:tgtEl>
                                        <p:attrNameLst>
                                          <p:attrName>ppt_w</p:attrName>
                                        </p:attrNameLst>
                                      </p:cBhvr>
                                      <p:tavLst>
                                        <p:tav tm="0">
                                          <p:val>
                                            <p:fltVal val="0"/>
                                          </p:val>
                                        </p:tav>
                                        <p:tav tm="100000">
                                          <p:val>
                                            <p:strVal val="#ppt_w"/>
                                          </p:val>
                                        </p:tav>
                                      </p:tavLst>
                                    </p:anim>
                                    <p:anim calcmode="lin" valueType="num">
                                      <p:cBhvr>
                                        <p:cTn id="50" dur="1000" fill="hold"/>
                                        <p:tgtEl>
                                          <p:spTgt spid="17"/>
                                        </p:tgtEl>
                                        <p:attrNameLst>
                                          <p:attrName>ppt_h</p:attrName>
                                        </p:attrNameLst>
                                      </p:cBhvr>
                                      <p:tavLst>
                                        <p:tav tm="0">
                                          <p:val>
                                            <p:fltVal val="0"/>
                                          </p:val>
                                        </p:tav>
                                        <p:tav tm="100000">
                                          <p:val>
                                            <p:strVal val="#ppt_h"/>
                                          </p:val>
                                        </p:tav>
                                      </p:tavLst>
                                    </p:anim>
                                    <p:anim calcmode="lin" valueType="num">
                                      <p:cBhvr>
                                        <p:cTn id="51" dur="1000" fill="hold"/>
                                        <p:tgtEl>
                                          <p:spTgt spid="17"/>
                                        </p:tgtEl>
                                        <p:attrNameLst>
                                          <p:attrName>style.rotation</p:attrName>
                                        </p:attrNameLst>
                                      </p:cBhvr>
                                      <p:tavLst>
                                        <p:tav tm="0">
                                          <p:val>
                                            <p:fltVal val="90"/>
                                          </p:val>
                                        </p:tav>
                                        <p:tav tm="100000">
                                          <p:val>
                                            <p:fltVal val="0"/>
                                          </p:val>
                                        </p:tav>
                                      </p:tavLst>
                                    </p:anim>
                                    <p:animEffect transition="in" filter="fade">
                                      <p:cBhvr>
                                        <p:cTn id="52" dur="1000"/>
                                        <p:tgtEl>
                                          <p:spTgt spid="17"/>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1000" fill="hold"/>
                                        <p:tgtEl>
                                          <p:spTgt spid="18"/>
                                        </p:tgtEl>
                                        <p:attrNameLst>
                                          <p:attrName>ppt_w</p:attrName>
                                        </p:attrNameLst>
                                      </p:cBhvr>
                                      <p:tavLst>
                                        <p:tav tm="0">
                                          <p:val>
                                            <p:fltVal val="0"/>
                                          </p:val>
                                        </p:tav>
                                        <p:tav tm="100000">
                                          <p:val>
                                            <p:strVal val="#ppt_w"/>
                                          </p:val>
                                        </p:tav>
                                      </p:tavLst>
                                    </p:anim>
                                    <p:anim calcmode="lin" valueType="num">
                                      <p:cBhvr>
                                        <p:cTn id="56" dur="1000" fill="hold"/>
                                        <p:tgtEl>
                                          <p:spTgt spid="18"/>
                                        </p:tgtEl>
                                        <p:attrNameLst>
                                          <p:attrName>ppt_h</p:attrName>
                                        </p:attrNameLst>
                                      </p:cBhvr>
                                      <p:tavLst>
                                        <p:tav tm="0">
                                          <p:val>
                                            <p:fltVal val="0"/>
                                          </p:val>
                                        </p:tav>
                                        <p:tav tm="100000">
                                          <p:val>
                                            <p:strVal val="#ppt_h"/>
                                          </p:val>
                                        </p:tav>
                                      </p:tavLst>
                                    </p:anim>
                                    <p:anim calcmode="lin" valueType="num">
                                      <p:cBhvr>
                                        <p:cTn id="57" dur="1000" fill="hold"/>
                                        <p:tgtEl>
                                          <p:spTgt spid="18"/>
                                        </p:tgtEl>
                                        <p:attrNameLst>
                                          <p:attrName>style.rotation</p:attrName>
                                        </p:attrNameLst>
                                      </p:cBhvr>
                                      <p:tavLst>
                                        <p:tav tm="0">
                                          <p:val>
                                            <p:fltVal val="90"/>
                                          </p:val>
                                        </p:tav>
                                        <p:tav tm="100000">
                                          <p:val>
                                            <p:fltVal val="0"/>
                                          </p:val>
                                        </p:tav>
                                      </p:tavLst>
                                    </p:anim>
                                    <p:animEffect transition="in" filter="fade">
                                      <p:cBhvr>
                                        <p:cTn id="58" dur="1000"/>
                                        <p:tgtEl>
                                          <p:spTgt spid="18"/>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p:cTn id="61" dur="1000" fill="hold"/>
                                        <p:tgtEl>
                                          <p:spTgt spid="19"/>
                                        </p:tgtEl>
                                        <p:attrNameLst>
                                          <p:attrName>ppt_w</p:attrName>
                                        </p:attrNameLst>
                                      </p:cBhvr>
                                      <p:tavLst>
                                        <p:tav tm="0">
                                          <p:val>
                                            <p:fltVal val="0"/>
                                          </p:val>
                                        </p:tav>
                                        <p:tav tm="100000">
                                          <p:val>
                                            <p:strVal val="#ppt_w"/>
                                          </p:val>
                                        </p:tav>
                                      </p:tavLst>
                                    </p:anim>
                                    <p:anim calcmode="lin" valueType="num">
                                      <p:cBhvr>
                                        <p:cTn id="62" dur="1000" fill="hold"/>
                                        <p:tgtEl>
                                          <p:spTgt spid="19"/>
                                        </p:tgtEl>
                                        <p:attrNameLst>
                                          <p:attrName>ppt_h</p:attrName>
                                        </p:attrNameLst>
                                      </p:cBhvr>
                                      <p:tavLst>
                                        <p:tav tm="0">
                                          <p:val>
                                            <p:fltVal val="0"/>
                                          </p:val>
                                        </p:tav>
                                        <p:tav tm="100000">
                                          <p:val>
                                            <p:strVal val="#ppt_h"/>
                                          </p:val>
                                        </p:tav>
                                      </p:tavLst>
                                    </p:anim>
                                    <p:anim calcmode="lin" valueType="num">
                                      <p:cBhvr>
                                        <p:cTn id="63" dur="1000" fill="hold"/>
                                        <p:tgtEl>
                                          <p:spTgt spid="19"/>
                                        </p:tgtEl>
                                        <p:attrNameLst>
                                          <p:attrName>style.rotation</p:attrName>
                                        </p:attrNameLst>
                                      </p:cBhvr>
                                      <p:tavLst>
                                        <p:tav tm="0">
                                          <p:val>
                                            <p:fltVal val="90"/>
                                          </p:val>
                                        </p:tav>
                                        <p:tav tm="100000">
                                          <p:val>
                                            <p:fltVal val="0"/>
                                          </p:val>
                                        </p:tav>
                                      </p:tavLst>
                                    </p:anim>
                                    <p:animEffect transition="in" filter="fade">
                                      <p:cBhvr>
                                        <p:cTn id="64" dur="1000"/>
                                        <p:tgtEl>
                                          <p:spTgt spid="19"/>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1000" fill="hold"/>
                                        <p:tgtEl>
                                          <p:spTgt spid="20"/>
                                        </p:tgtEl>
                                        <p:attrNameLst>
                                          <p:attrName>ppt_w</p:attrName>
                                        </p:attrNameLst>
                                      </p:cBhvr>
                                      <p:tavLst>
                                        <p:tav tm="0">
                                          <p:val>
                                            <p:fltVal val="0"/>
                                          </p:val>
                                        </p:tav>
                                        <p:tav tm="100000">
                                          <p:val>
                                            <p:strVal val="#ppt_w"/>
                                          </p:val>
                                        </p:tav>
                                      </p:tavLst>
                                    </p:anim>
                                    <p:anim calcmode="lin" valueType="num">
                                      <p:cBhvr>
                                        <p:cTn id="68" dur="1000" fill="hold"/>
                                        <p:tgtEl>
                                          <p:spTgt spid="20"/>
                                        </p:tgtEl>
                                        <p:attrNameLst>
                                          <p:attrName>ppt_h</p:attrName>
                                        </p:attrNameLst>
                                      </p:cBhvr>
                                      <p:tavLst>
                                        <p:tav tm="0">
                                          <p:val>
                                            <p:fltVal val="0"/>
                                          </p:val>
                                        </p:tav>
                                        <p:tav tm="100000">
                                          <p:val>
                                            <p:strVal val="#ppt_h"/>
                                          </p:val>
                                        </p:tav>
                                      </p:tavLst>
                                    </p:anim>
                                    <p:anim calcmode="lin" valueType="num">
                                      <p:cBhvr>
                                        <p:cTn id="69" dur="1000" fill="hold"/>
                                        <p:tgtEl>
                                          <p:spTgt spid="20"/>
                                        </p:tgtEl>
                                        <p:attrNameLst>
                                          <p:attrName>style.rotation</p:attrName>
                                        </p:attrNameLst>
                                      </p:cBhvr>
                                      <p:tavLst>
                                        <p:tav tm="0">
                                          <p:val>
                                            <p:fltVal val="90"/>
                                          </p:val>
                                        </p:tav>
                                        <p:tav tm="100000">
                                          <p:val>
                                            <p:fltVal val="0"/>
                                          </p:val>
                                        </p:tav>
                                      </p:tavLst>
                                    </p:anim>
                                    <p:animEffect transition="in" filter="fade">
                                      <p:cBhvr>
                                        <p:cTn id="70" dur="1000"/>
                                        <p:tgtEl>
                                          <p:spTgt spid="20"/>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p:cTn id="73" dur="1000" fill="hold"/>
                                        <p:tgtEl>
                                          <p:spTgt spid="21"/>
                                        </p:tgtEl>
                                        <p:attrNameLst>
                                          <p:attrName>ppt_w</p:attrName>
                                        </p:attrNameLst>
                                      </p:cBhvr>
                                      <p:tavLst>
                                        <p:tav tm="0">
                                          <p:val>
                                            <p:fltVal val="0"/>
                                          </p:val>
                                        </p:tav>
                                        <p:tav tm="100000">
                                          <p:val>
                                            <p:strVal val="#ppt_w"/>
                                          </p:val>
                                        </p:tav>
                                      </p:tavLst>
                                    </p:anim>
                                    <p:anim calcmode="lin" valueType="num">
                                      <p:cBhvr>
                                        <p:cTn id="74" dur="1000" fill="hold"/>
                                        <p:tgtEl>
                                          <p:spTgt spid="21"/>
                                        </p:tgtEl>
                                        <p:attrNameLst>
                                          <p:attrName>ppt_h</p:attrName>
                                        </p:attrNameLst>
                                      </p:cBhvr>
                                      <p:tavLst>
                                        <p:tav tm="0">
                                          <p:val>
                                            <p:fltVal val="0"/>
                                          </p:val>
                                        </p:tav>
                                        <p:tav tm="100000">
                                          <p:val>
                                            <p:strVal val="#ppt_h"/>
                                          </p:val>
                                        </p:tav>
                                      </p:tavLst>
                                    </p:anim>
                                    <p:anim calcmode="lin" valueType="num">
                                      <p:cBhvr>
                                        <p:cTn id="75" dur="1000" fill="hold"/>
                                        <p:tgtEl>
                                          <p:spTgt spid="21"/>
                                        </p:tgtEl>
                                        <p:attrNameLst>
                                          <p:attrName>style.rotation</p:attrName>
                                        </p:attrNameLst>
                                      </p:cBhvr>
                                      <p:tavLst>
                                        <p:tav tm="0">
                                          <p:val>
                                            <p:fltVal val="90"/>
                                          </p:val>
                                        </p:tav>
                                        <p:tav tm="100000">
                                          <p:val>
                                            <p:fltVal val="0"/>
                                          </p:val>
                                        </p:tav>
                                      </p:tavLst>
                                    </p:anim>
                                    <p:animEffect transition="in" filter="fade">
                                      <p:cBhvr>
                                        <p:cTn id="76" dur="1000"/>
                                        <p:tgtEl>
                                          <p:spTgt spid="21"/>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p:cTn id="79" dur="1000" fill="hold"/>
                                        <p:tgtEl>
                                          <p:spTgt spid="22"/>
                                        </p:tgtEl>
                                        <p:attrNameLst>
                                          <p:attrName>ppt_w</p:attrName>
                                        </p:attrNameLst>
                                      </p:cBhvr>
                                      <p:tavLst>
                                        <p:tav tm="0">
                                          <p:val>
                                            <p:fltVal val="0"/>
                                          </p:val>
                                        </p:tav>
                                        <p:tav tm="100000">
                                          <p:val>
                                            <p:strVal val="#ppt_w"/>
                                          </p:val>
                                        </p:tav>
                                      </p:tavLst>
                                    </p:anim>
                                    <p:anim calcmode="lin" valueType="num">
                                      <p:cBhvr>
                                        <p:cTn id="80" dur="1000" fill="hold"/>
                                        <p:tgtEl>
                                          <p:spTgt spid="22"/>
                                        </p:tgtEl>
                                        <p:attrNameLst>
                                          <p:attrName>ppt_h</p:attrName>
                                        </p:attrNameLst>
                                      </p:cBhvr>
                                      <p:tavLst>
                                        <p:tav tm="0">
                                          <p:val>
                                            <p:fltVal val="0"/>
                                          </p:val>
                                        </p:tav>
                                        <p:tav tm="100000">
                                          <p:val>
                                            <p:strVal val="#ppt_h"/>
                                          </p:val>
                                        </p:tav>
                                      </p:tavLst>
                                    </p:anim>
                                    <p:anim calcmode="lin" valueType="num">
                                      <p:cBhvr>
                                        <p:cTn id="81" dur="1000" fill="hold"/>
                                        <p:tgtEl>
                                          <p:spTgt spid="22"/>
                                        </p:tgtEl>
                                        <p:attrNameLst>
                                          <p:attrName>style.rotation</p:attrName>
                                        </p:attrNameLst>
                                      </p:cBhvr>
                                      <p:tavLst>
                                        <p:tav tm="0">
                                          <p:val>
                                            <p:fltVal val="90"/>
                                          </p:val>
                                        </p:tav>
                                        <p:tav tm="100000">
                                          <p:val>
                                            <p:fltVal val="0"/>
                                          </p:val>
                                        </p:tav>
                                      </p:tavLst>
                                    </p:anim>
                                    <p:animEffect transition="in" filter="fade">
                                      <p:cBhvr>
                                        <p:cTn id="82" dur="1000"/>
                                        <p:tgtEl>
                                          <p:spTgt spid="22"/>
                                        </p:tgtEl>
                                      </p:cBhvr>
                                    </p:animEffect>
                                  </p:childTnLst>
                                </p:cTn>
                              </p:par>
                              <p:par>
                                <p:cTn id="83" presetID="31"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p:cTn id="85" dur="1000" fill="hold"/>
                                        <p:tgtEl>
                                          <p:spTgt spid="23"/>
                                        </p:tgtEl>
                                        <p:attrNameLst>
                                          <p:attrName>ppt_w</p:attrName>
                                        </p:attrNameLst>
                                      </p:cBhvr>
                                      <p:tavLst>
                                        <p:tav tm="0">
                                          <p:val>
                                            <p:fltVal val="0"/>
                                          </p:val>
                                        </p:tav>
                                        <p:tav tm="100000">
                                          <p:val>
                                            <p:strVal val="#ppt_w"/>
                                          </p:val>
                                        </p:tav>
                                      </p:tavLst>
                                    </p:anim>
                                    <p:anim calcmode="lin" valueType="num">
                                      <p:cBhvr>
                                        <p:cTn id="86" dur="1000" fill="hold"/>
                                        <p:tgtEl>
                                          <p:spTgt spid="23"/>
                                        </p:tgtEl>
                                        <p:attrNameLst>
                                          <p:attrName>ppt_h</p:attrName>
                                        </p:attrNameLst>
                                      </p:cBhvr>
                                      <p:tavLst>
                                        <p:tav tm="0">
                                          <p:val>
                                            <p:fltVal val="0"/>
                                          </p:val>
                                        </p:tav>
                                        <p:tav tm="100000">
                                          <p:val>
                                            <p:strVal val="#ppt_h"/>
                                          </p:val>
                                        </p:tav>
                                      </p:tavLst>
                                    </p:anim>
                                    <p:anim calcmode="lin" valueType="num">
                                      <p:cBhvr>
                                        <p:cTn id="87" dur="1000" fill="hold"/>
                                        <p:tgtEl>
                                          <p:spTgt spid="23"/>
                                        </p:tgtEl>
                                        <p:attrNameLst>
                                          <p:attrName>style.rotation</p:attrName>
                                        </p:attrNameLst>
                                      </p:cBhvr>
                                      <p:tavLst>
                                        <p:tav tm="0">
                                          <p:val>
                                            <p:fltVal val="90"/>
                                          </p:val>
                                        </p:tav>
                                        <p:tav tm="100000">
                                          <p:val>
                                            <p:fltVal val="0"/>
                                          </p:val>
                                        </p:tav>
                                      </p:tavLst>
                                    </p:anim>
                                    <p:animEffect transition="in" filter="fade">
                                      <p:cBhvr>
                                        <p:cTn id="88" dur="1000"/>
                                        <p:tgtEl>
                                          <p:spTgt spid="23"/>
                                        </p:tgtEl>
                                      </p:cBhvr>
                                    </p:animEffect>
                                  </p:childTnLst>
                                </p:cTn>
                              </p:par>
                              <p:par>
                                <p:cTn id="89" presetID="31"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p:cTn id="91" dur="1000" fill="hold"/>
                                        <p:tgtEl>
                                          <p:spTgt spid="24"/>
                                        </p:tgtEl>
                                        <p:attrNameLst>
                                          <p:attrName>ppt_w</p:attrName>
                                        </p:attrNameLst>
                                      </p:cBhvr>
                                      <p:tavLst>
                                        <p:tav tm="0">
                                          <p:val>
                                            <p:fltVal val="0"/>
                                          </p:val>
                                        </p:tav>
                                        <p:tav tm="100000">
                                          <p:val>
                                            <p:strVal val="#ppt_w"/>
                                          </p:val>
                                        </p:tav>
                                      </p:tavLst>
                                    </p:anim>
                                    <p:anim calcmode="lin" valueType="num">
                                      <p:cBhvr>
                                        <p:cTn id="92" dur="1000" fill="hold"/>
                                        <p:tgtEl>
                                          <p:spTgt spid="24"/>
                                        </p:tgtEl>
                                        <p:attrNameLst>
                                          <p:attrName>ppt_h</p:attrName>
                                        </p:attrNameLst>
                                      </p:cBhvr>
                                      <p:tavLst>
                                        <p:tav tm="0">
                                          <p:val>
                                            <p:fltVal val="0"/>
                                          </p:val>
                                        </p:tav>
                                        <p:tav tm="100000">
                                          <p:val>
                                            <p:strVal val="#ppt_h"/>
                                          </p:val>
                                        </p:tav>
                                      </p:tavLst>
                                    </p:anim>
                                    <p:anim calcmode="lin" valueType="num">
                                      <p:cBhvr>
                                        <p:cTn id="93" dur="1000" fill="hold"/>
                                        <p:tgtEl>
                                          <p:spTgt spid="24"/>
                                        </p:tgtEl>
                                        <p:attrNameLst>
                                          <p:attrName>style.rotation</p:attrName>
                                        </p:attrNameLst>
                                      </p:cBhvr>
                                      <p:tavLst>
                                        <p:tav tm="0">
                                          <p:val>
                                            <p:fltVal val="90"/>
                                          </p:val>
                                        </p:tav>
                                        <p:tav tm="100000">
                                          <p:val>
                                            <p:fltVal val="0"/>
                                          </p:val>
                                        </p:tav>
                                      </p:tavLst>
                                    </p:anim>
                                    <p:animEffect transition="in" filter="fade">
                                      <p:cBhvr>
                                        <p:cTn id="94" dur="1000"/>
                                        <p:tgtEl>
                                          <p:spTgt spid="24"/>
                                        </p:tgtEl>
                                      </p:cBhvr>
                                    </p:animEffect>
                                  </p:childTnLst>
                                </p:cTn>
                              </p:par>
                              <p:par>
                                <p:cTn id="95" presetID="31" presetClass="entr" presetSubtype="0"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p:cTn id="97" dur="1000" fill="hold"/>
                                        <p:tgtEl>
                                          <p:spTgt spid="25"/>
                                        </p:tgtEl>
                                        <p:attrNameLst>
                                          <p:attrName>ppt_w</p:attrName>
                                        </p:attrNameLst>
                                      </p:cBhvr>
                                      <p:tavLst>
                                        <p:tav tm="0">
                                          <p:val>
                                            <p:fltVal val="0"/>
                                          </p:val>
                                        </p:tav>
                                        <p:tav tm="100000">
                                          <p:val>
                                            <p:strVal val="#ppt_w"/>
                                          </p:val>
                                        </p:tav>
                                      </p:tavLst>
                                    </p:anim>
                                    <p:anim calcmode="lin" valueType="num">
                                      <p:cBhvr>
                                        <p:cTn id="98" dur="1000" fill="hold"/>
                                        <p:tgtEl>
                                          <p:spTgt spid="25"/>
                                        </p:tgtEl>
                                        <p:attrNameLst>
                                          <p:attrName>ppt_h</p:attrName>
                                        </p:attrNameLst>
                                      </p:cBhvr>
                                      <p:tavLst>
                                        <p:tav tm="0">
                                          <p:val>
                                            <p:fltVal val="0"/>
                                          </p:val>
                                        </p:tav>
                                        <p:tav tm="100000">
                                          <p:val>
                                            <p:strVal val="#ppt_h"/>
                                          </p:val>
                                        </p:tav>
                                      </p:tavLst>
                                    </p:anim>
                                    <p:anim calcmode="lin" valueType="num">
                                      <p:cBhvr>
                                        <p:cTn id="99" dur="1000" fill="hold"/>
                                        <p:tgtEl>
                                          <p:spTgt spid="25"/>
                                        </p:tgtEl>
                                        <p:attrNameLst>
                                          <p:attrName>style.rotation</p:attrName>
                                        </p:attrNameLst>
                                      </p:cBhvr>
                                      <p:tavLst>
                                        <p:tav tm="0">
                                          <p:val>
                                            <p:fltVal val="90"/>
                                          </p:val>
                                        </p:tav>
                                        <p:tav tm="100000">
                                          <p:val>
                                            <p:fltVal val="0"/>
                                          </p:val>
                                        </p:tav>
                                      </p:tavLst>
                                    </p:anim>
                                    <p:animEffect transition="in" filter="fade">
                                      <p:cBhvr>
                                        <p:cTn id="100"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3" name="Group 3"/>
          <p:cNvGrpSpPr/>
          <p:nvPr/>
        </p:nvGrpSpPr>
        <p:grpSpPr>
          <a:xfrm>
            <a:off x="-203669" y="-206665"/>
            <a:ext cx="18695337" cy="4744221"/>
            <a:chOff x="0" y="0"/>
            <a:chExt cx="2896397" cy="735004"/>
          </a:xfrm>
        </p:grpSpPr>
        <p:sp>
          <p:nvSpPr>
            <p:cNvPr id="4" name="Freeform 4"/>
            <p:cNvSpPr/>
            <p:nvPr/>
          </p:nvSpPr>
          <p:spPr>
            <a:xfrm>
              <a:off x="0" y="0"/>
              <a:ext cx="2896397" cy="735004"/>
            </a:xfrm>
            <a:custGeom>
              <a:avLst/>
              <a:gdLst/>
              <a:ahLst/>
              <a:cxnLst/>
              <a:rect l="l" t="t" r="r" b="b"/>
              <a:pathLst>
                <a:path w="2896397" h="735004">
                  <a:moveTo>
                    <a:pt x="0" y="0"/>
                  </a:moveTo>
                  <a:lnTo>
                    <a:pt x="2896397" y="0"/>
                  </a:lnTo>
                  <a:lnTo>
                    <a:pt x="2896397" y="735004"/>
                  </a:lnTo>
                  <a:lnTo>
                    <a:pt x="0" y="735004"/>
                  </a:lnTo>
                  <a:close/>
                </a:path>
              </a:pathLst>
            </a:custGeom>
            <a:blipFill>
              <a:blip r:embed="rId3"/>
              <a:stretch>
                <a:fillRect t="-168860" b="-294089"/>
              </a:stretch>
            </a:blipFill>
          </p:spPr>
          <p:txBody>
            <a:bodyPr/>
            <a:lstStyle/>
            <a:p>
              <a:endParaRPr lang="en-US"/>
            </a:p>
          </p:txBody>
        </p:sp>
      </p:grpSp>
      <p:grpSp>
        <p:nvGrpSpPr>
          <p:cNvPr id="5" name="Group 5"/>
          <p:cNvGrpSpPr/>
          <p:nvPr/>
        </p:nvGrpSpPr>
        <p:grpSpPr>
          <a:xfrm>
            <a:off x="894040" y="2728442"/>
            <a:ext cx="16495548" cy="6691928"/>
            <a:chOff x="0" y="0"/>
            <a:chExt cx="4344507" cy="1762483"/>
          </a:xfrm>
        </p:grpSpPr>
        <p:sp>
          <p:nvSpPr>
            <p:cNvPr id="6" name="Freeform 6"/>
            <p:cNvSpPr/>
            <p:nvPr/>
          </p:nvSpPr>
          <p:spPr>
            <a:xfrm>
              <a:off x="0" y="0"/>
              <a:ext cx="4344507" cy="1762483"/>
            </a:xfrm>
            <a:custGeom>
              <a:avLst/>
              <a:gdLst/>
              <a:ahLst/>
              <a:cxnLst/>
              <a:rect l="l" t="t" r="r" b="b"/>
              <a:pathLst>
                <a:path w="4344507" h="1762483">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7" name="TextBox 7"/>
            <p:cNvSpPr txBox="1"/>
            <p:nvPr/>
          </p:nvSpPr>
          <p:spPr>
            <a:xfrm>
              <a:off x="0" y="-28575"/>
              <a:ext cx="4344507" cy="1791058"/>
            </a:xfrm>
            <a:prstGeom prst="rect">
              <a:avLst/>
            </a:prstGeom>
          </p:spPr>
          <p:txBody>
            <a:bodyPr lIns="50800" tIns="50800" rIns="50800" bIns="50800" rtlCol="0" anchor="ctr"/>
            <a:lstStyle/>
            <a:p>
              <a:pPr algn="ctr">
                <a:lnSpc>
                  <a:spcPts val="2015"/>
                </a:lnSpc>
              </a:pPr>
              <a:endParaRPr dirty="0"/>
            </a:p>
          </p:txBody>
        </p:sp>
      </p:grpSp>
      <p:grpSp>
        <p:nvGrpSpPr>
          <p:cNvPr id="8" name="Group 8"/>
          <p:cNvGrpSpPr/>
          <p:nvPr/>
        </p:nvGrpSpPr>
        <p:grpSpPr>
          <a:xfrm>
            <a:off x="16486613" y="3122398"/>
            <a:ext cx="480334" cy="4803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100000"/>
                  </a:srgbClr>
                </a:gs>
                <a:gs pos="100000">
                  <a:srgbClr val="E4F2FF">
                    <a:alpha val="100000"/>
                  </a:srgbClr>
                </a:gs>
              </a:gsLst>
              <a:lin ang="0"/>
            </a:gradFill>
            <a:ln w="9525" cap="sq">
              <a:solidFill>
                <a:srgbClr val="FFFFFF"/>
              </a:solidFill>
              <a:prstDash val="solid"/>
              <a:miter/>
            </a:ln>
          </p:spPr>
          <p:txBody>
            <a:bodyPr/>
            <a:lstStyle/>
            <a:p>
              <a:endParaRPr lang="en-US"/>
            </a:p>
          </p:txBody>
        </p:sp>
        <p:sp>
          <p:nvSpPr>
            <p:cNvPr id="10" name="TextBox 10"/>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dirty="0"/>
            </a:p>
          </p:txBody>
        </p:sp>
      </p:grpSp>
      <p:sp>
        <p:nvSpPr>
          <p:cNvPr id="11" name="TextBox 11"/>
          <p:cNvSpPr txBox="1"/>
          <p:nvPr/>
        </p:nvSpPr>
        <p:spPr>
          <a:xfrm>
            <a:off x="1601969" y="3630688"/>
            <a:ext cx="10156343" cy="1558403"/>
          </a:xfrm>
          <a:prstGeom prst="rect">
            <a:avLst/>
          </a:prstGeom>
        </p:spPr>
        <p:txBody>
          <a:bodyPr lIns="0" tIns="0" rIns="0" bIns="0" rtlCol="0" anchor="t">
            <a:spAutoFit/>
          </a:bodyPr>
          <a:lstStyle/>
          <a:p>
            <a:pPr algn="l">
              <a:lnSpc>
                <a:spcPts val="11464"/>
              </a:lnSpc>
            </a:pPr>
            <a:r>
              <a:rPr lang="en-US" sz="12196" b="1" spc="-573" dirty="0">
                <a:solidFill>
                  <a:srgbClr val="FFFFFF"/>
                </a:solidFill>
                <a:latin typeface="Open Sauce Heavy"/>
                <a:ea typeface="Open Sauce Heavy"/>
                <a:cs typeface="Open Sauce Heavy"/>
                <a:sym typeface="Open Sauce Heavy"/>
              </a:rPr>
              <a:t>Introduction</a:t>
            </a:r>
          </a:p>
        </p:txBody>
      </p:sp>
      <p:sp>
        <p:nvSpPr>
          <p:cNvPr id="12" name="TextBox 12"/>
          <p:cNvSpPr txBox="1"/>
          <p:nvPr/>
        </p:nvSpPr>
        <p:spPr>
          <a:xfrm>
            <a:off x="1598425" y="6080216"/>
            <a:ext cx="9675631" cy="1923604"/>
          </a:xfrm>
          <a:prstGeom prst="rect">
            <a:avLst/>
          </a:prstGeom>
        </p:spPr>
        <p:txBody>
          <a:bodyPr wrap="square" lIns="0" tIns="0" rIns="0" bIns="0" rtlCol="0" anchor="t">
            <a:spAutoFit/>
          </a:bodyPr>
          <a:lstStyle/>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Northbridge University is faced with the operational challenge of managing student enquiries efficiently and students are struggling to receive assistance and obtain information from the university.</a:t>
            </a:r>
          </a:p>
          <a:p>
            <a:pPr algn="l">
              <a:lnSpc>
                <a:spcPts val="2520"/>
              </a:lnSpc>
            </a:pPr>
            <a:endParaRPr lang="en-US" sz="2400" spc="-84" dirty="0">
              <a:solidFill>
                <a:srgbClr val="FFFFFF"/>
              </a:solidFill>
              <a:latin typeface="Open Sauce" panose="020B0604020202020204" charset="0"/>
              <a:ea typeface="Open Sauce Light"/>
              <a:cs typeface="Open Sauce Light"/>
              <a:sym typeface="Open Sauce Light"/>
            </a:endParaRPr>
          </a:p>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An analysis of the problem is required, as well as a solution that will help stakeholders and provide efficiency and value to the University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D0DEEB">
                <a:alpha val="100000"/>
              </a:srgbClr>
            </a:gs>
            <a:gs pos="100000">
              <a:srgbClr val="7B7A89">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a:alphaModFix amt="43000"/>
            </a:blip>
            <a:stretch>
              <a:fillRect/>
            </a:stretch>
          </a:blipFill>
        </p:spPr>
        <p:txBody>
          <a:bodyPr/>
          <a:lstStyle/>
          <a:p>
            <a:endParaRPr lang="en-US"/>
          </a:p>
        </p:txBody>
      </p:sp>
      <p:sp>
        <p:nvSpPr>
          <p:cNvPr id="3" name="Freeform 3"/>
          <p:cNvSpPr/>
          <p:nvPr/>
        </p:nvSpPr>
        <p:spPr>
          <a:xfrm>
            <a:off x="-1964581" y="6163012"/>
            <a:ext cx="12299674" cy="5143500"/>
          </a:xfrm>
          <a:custGeom>
            <a:avLst/>
            <a:gdLst/>
            <a:ahLst/>
            <a:cxnLst/>
            <a:rect l="l" t="t" r="r" b="b"/>
            <a:pathLst>
              <a:path w="12299674" h="5143500">
                <a:moveTo>
                  <a:pt x="0" y="0"/>
                </a:moveTo>
                <a:lnTo>
                  <a:pt x="12299674" y="0"/>
                </a:lnTo>
                <a:lnTo>
                  <a:pt x="12299674" y="5143500"/>
                </a:lnTo>
                <a:lnTo>
                  <a:pt x="0" y="5143500"/>
                </a:lnTo>
                <a:lnTo>
                  <a:pt x="0" y="0"/>
                </a:lnTo>
                <a:close/>
              </a:path>
            </a:pathLst>
          </a:custGeom>
          <a:blipFill>
            <a:blip r:embed="rId3">
              <a:alphaModFix amt="21999"/>
            </a:blip>
            <a:stretch>
              <a:fillRect/>
            </a:stretch>
          </a:blipFill>
        </p:spPr>
        <p:txBody>
          <a:bodyPr/>
          <a:lstStyle/>
          <a:p>
            <a:endParaRPr lang="en-US"/>
          </a:p>
        </p:txBody>
      </p:sp>
      <p:grpSp>
        <p:nvGrpSpPr>
          <p:cNvPr id="4" name="Group 4"/>
          <p:cNvGrpSpPr/>
          <p:nvPr/>
        </p:nvGrpSpPr>
        <p:grpSpPr>
          <a:xfrm>
            <a:off x="729038" y="4251230"/>
            <a:ext cx="16360888" cy="4960467"/>
            <a:chOff x="0" y="0"/>
            <a:chExt cx="4309041" cy="1306461"/>
          </a:xfrm>
          <a:solidFill>
            <a:schemeClr val="tx1">
              <a:lumMod val="50000"/>
              <a:lumOff val="50000"/>
            </a:schemeClr>
          </a:solidFill>
        </p:grpSpPr>
        <p:sp>
          <p:nvSpPr>
            <p:cNvPr id="5" name="Freeform 5"/>
            <p:cNvSpPr/>
            <p:nvPr/>
          </p:nvSpPr>
          <p:spPr>
            <a:xfrm>
              <a:off x="0" y="0"/>
              <a:ext cx="4309040" cy="1306461"/>
            </a:xfrm>
            <a:custGeom>
              <a:avLst/>
              <a:gdLst/>
              <a:ahLst/>
              <a:cxnLst/>
              <a:rect l="l" t="t" r="r" b="b"/>
              <a:pathLst>
                <a:path w="4309040" h="1306461">
                  <a:moveTo>
                    <a:pt x="44007" y="0"/>
                  </a:moveTo>
                  <a:lnTo>
                    <a:pt x="4265033" y="0"/>
                  </a:lnTo>
                  <a:cubicBezTo>
                    <a:pt x="4276704" y="0"/>
                    <a:pt x="4287898" y="4636"/>
                    <a:pt x="4296151" y="12889"/>
                  </a:cubicBezTo>
                  <a:cubicBezTo>
                    <a:pt x="4304404" y="21142"/>
                    <a:pt x="4309040" y="32336"/>
                    <a:pt x="4309040" y="44007"/>
                  </a:cubicBezTo>
                  <a:lnTo>
                    <a:pt x="4309040" y="1262453"/>
                  </a:lnTo>
                  <a:cubicBezTo>
                    <a:pt x="4309040" y="1274125"/>
                    <a:pt x="4304404" y="1285318"/>
                    <a:pt x="4296151" y="1293571"/>
                  </a:cubicBezTo>
                  <a:cubicBezTo>
                    <a:pt x="4287898" y="1301824"/>
                    <a:pt x="4276704" y="1306461"/>
                    <a:pt x="4265033" y="1306461"/>
                  </a:cubicBezTo>
                  <a:lnTo>
                    <a:pt x="44007" y="1306461"/>
                  </a:lnTo>
                  <a:cubicBezTo>
                    <a:pt x="32336" y="1306461"/>
                    <a:pt x="21142" y="1301824"/>
                    <a:pt x="12889" y="1293571"/>
                  </a:cubicBezTo>
                  <a:cubicBezTo>
                    <a:pt x="4636" y="1285318"/>
                    <a:pt x="0" y="1274125"/>
                    <a:pt x="0" y="1262453"/>
                  </a:cubicBezTo>
                  <a:lnTo>
                    <a:pt x="0" y="44007"/>
                  </a:lnTo>
                  <a:cubicBezTo>
                    <a:pt x="0" y="32336"/>
                    <a:pt x="4636" y="21142"/>
                    <a:pt x="12889" y="12889"/>
                  </a:cubicBezTo>
                  <a:cubicBezTo>
                    <a:pt x="21142" y="4636"/>
                    <a:pt x="32336" y="0"/>
                    <a:pt x="44007" y="0"/>
                  </a:cubicBezTo>
                  <a:close/>
                </a:path>
              </a:pathLst>
            </a:custGeom>
            <a:noFill/>
            <a:ln>
              <a:noFill/>
            </a:ln>
          </p:spPr>
          <p:style>
            <a:lnRef idx="0">
              <a:scrgbClr r="0" g="0" b="0"/>
            </a:lnRef>
            <a:fillRef idx="0">
              <a:scrgbClr r="0" g="0" b="0"/>
            </a:fillRef>
            <a:effectRef idx="0">
              <a:scrgbClr r="0" g="0" b="0"/>
            </a:effectRef>
            <a:fontRef idx="minor">
              <a:schemeClr val="dk1"/>
            </a:fontRef>
          </p:style>
          <p:txBody>
            <a:bodyPr/>
            <a:lstStyle/>
            <a:p>
              <a:endParaRPr lang="en-US"/>
            </a:p>
          </p:txBody>
        </p:sp>
        <p:sp>
          <p:nvSpPr>
            <p:cNvPr id="6" name="TextBox 6"/>
            <p:cNvSpPr txBox="1"/>
            <p:nvPr/>
          </p:nvSpPr>
          <p:spPr>
            <a:xfrm>
              <a:off x="0" y="-28575"/>
              <a:ext cx="4309041" cy="1335036"/>
            </a:xfrm>
            <a:prstGeom prst="rect">
              <a:avLst/>
            </a:prstGeom>
            <a:noFill/>
            <a:ln>
              <a:noFill/>
            </a:ln>
          </p:spPr>
          <p:style>
            <a:lnRef idx="0">
              <a:scrgbClr r="0" g="0" b="0"/>
            </a:lnRef>
            <a:fillRef idx="0">
              <a:scrgbClr r="0" g="0" b="0"/>
            </a:fillRef>
            <a:effectRef idx="0">
              <a:scrgbClr r="0" g="0" b="0"/>
            </a:effectRef>
            <a:fontRef idx="minor">
              <a:schemeClr val="dk1"/>
            </a:fontRef>
          </p:style>
          <p:txBody>
            <a:bodyPr lIns="50800" tIns="50800" rIns="50800" bIns="50800" rtlCol="0" anchor="ctr"/>
            <a:lstStyle/>
            <a:p>
              <a:pPr algn="ctr">
                <a:lnSpc>
                  <a:spcPts val="2015"/>
                </a:lnSpc>
              </a:pPr>
              <a:endParaRPr dirty="0"/>
            </a:p>
          </p:txBody>
        </p:sp>
      </p:grpSp>
      <p:sp>
        <p:nvSpPr>
          <p:cNvPr id="7" name="TextBox 7"/>
          <p:cNvSpPr txBox="1"/>
          <p:nvPr/>
        </p:nvSpPr>
        <p:spPr>
          <a:xfrm>
            <a:off x="1028700" y="2360110"/>
            <a:ext cx="13389009" cy="1205458"/>
          </a:xfrm>
          <a:prstGeom prst="rect">
            <a:avLst/>
          </a:prstGeom>
        </p:spPr>
        <p:txBody>
          <a:bodyPr lIns="0" tIns="0" rIns="0" bIns="0" rtlCol="0" anchor="t">
            <a:spAutoFit/>
          </a:bodyPr>
          <a:lstStyle/>
          <a:p>
            <a:pPr algn="l">
              <a:lnSpc>
                <a:spcPts val="9367"/>
              </a:lnSpc>
            </a:pPr>
            <a:r>
              <a:rPr lang="en-US" sz="9999" b="1" spc="-469" dirty="0">
                <a:solidFill>
                  <a:srgbClr val="00112A"/>
                </a:solidFill>
                <a:latin typeface="Open Sauce Heavy"/>
                <a:sym typeface="Open Sauce Heavy"/>
              </a:rPr>
              <a:t>Problem</a:t>
            </a:r>
            <a:r>
              <a:rPr lang="en-US" sz="9965" b="1" spc="-468" dirty="0">
                <a:solidFill>
                  <a:srgbClr val="00112A"/>
                </a:solidFill>
                <a:latin typeface="Open Sauce Heavy"/>
                <a:ea typeface="Open Sauce Heavy"/>
                <a:cs typeface="Open Sauce Heavy"/>
                <a:sym typeface="Open Sauce Heavy"/>
              </a:rPr>
              <a:t> </a:t>
            </a:r>
            <a:r>
              <a:rPr lang="en-US" sz="9999" b="1" spc="-469" dirty="0">
                <a:solidFill>
                  <a:srgbClr val="00112A"/>
                </a:solidFill>
                <a:latin typeface="Open Sauce Heavy"/>
                <a:sym typeface="Open Sauce Heavy"/>
              </a:rPr>
              <a:t>Statement</a:t>
            </a:r>
          </a:p>
        </p:txBody>
      </p:sp>
      <p:sp>
        <p:nvSpPr>
          <p:cNvPr id="8" name="TextBox 8"/>
          <p:cNvSpPr txBox="1"/>
          <p:nvPr/>
        </p:nvSpPr>
        <p:spPr>
          <a:xfrm>
            <a:off x="1176303" y="4867038"/>
            <a:ext cx="12894161" cy="3695820"/>
          </a:xfrm>
          <a:prstGeom prst="rect">
            <a:avLst/>
          </a:prstGeom>
        </p:spPr>
        <p:txBody>
          <a:bodyPr lIns="0" tIns="0" rIns="0" bIns="0" rtlCol="0" anchor="t">
            <a:spAutoFit/>
          </a:bodyPr>
          <a:lstStyle/>
          <a:p>
            <a:pPr algn="l">
              <a:lnSpc>
                <a:spcPts val="3599"/>
              </a:lnSpc>
            </a:pPr>
            <a:r>
              <a:rPr lang="en-US" sz="4000" spc="-140" dirty="0">
                <a:solidFill>
                  <a:schemeClr val="tx2">
                    <a:lumMod val="50000"/>
                  </a:schemeClr>
                </a:solidFill>
                <a:latin typeface="Open Sauce Light" panose="020B0604020202020204" charset="0"/>
                <a:ea typeface="Open Sauce"/>
                <a:cs typeface="Open Sauce"/>
                <a:sym typeface="Open Sauce"/>
              </a:rPr>
              <a:t>Northbridge university is faced with a  high volume of student enquiries through multiple channels, which are handled independently by the different departments in the university without a centralized system/process to capture, track and manage them. This has resulted in high response times, a lack of visibility on student enquiries, operational pressure and inefficiency, and overall student dissatisfaction.</a:t>
            </a:r>
          </a:p>
        </p:txBody>
      </p:sp>
      <p:cxnSp>
        <p:nvCxnSpPr>
          <p:cNvPr id="12" name="Straight Connector 11">
            <a:extLst>
              <a:ext uri="{FF2B5EF4-FFF2-40B4-BE49-F238E27FC236}">
                <a16:creationId xmlns:a16="http://schemas.microsoft.com/office/drawing/2014/main" id="{53E32CBD-C8EC-4277-C9A4-1C48626932A4}"/>
              </a:ext>
            </a:extLst>
          </p:cNvPr>
          <p:cNvCxnSpPr/>
          <p:nvPr/>
        </p:nvCxnSpPr>
        <p:spPr>
          <a:xfrm>
            <a:off x="14630400" y="2360110"/>
            <a:ext cx="0" cy="59837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2700000" flipH="1">
            <a:off x="-2109444" y="5046072"/>
            <a:ext cx="9290530" cy="6858100"/>
          </a:xfrm>
          <a:custGeom>
            <a:avLst/>
            <a:gdLst/>
            <a:ahLst/>
            <a:cxnLst/>
            <a:rect l="l" t="t" r="r" b="b"/>
            <a:pathLst>
              <a:path w="9290530" h="6858100">
                <a:moveTo>
                  <a:pt x="9290530" y="0"/>
                </a:moveTo>
                <a:lnTo>
                  <a:pt x="0" y="0"/>
                </a:lnTo>
                <a:lnTo>
                  <a:pt x="0" y="6858101"/>
                </a:lnTo>
                <a:lnTo>
                  <a:pt x="9290530" y="6858101"/>
                </a:lnTo>
                <a:lnTo>
                  <a:pt x="9290530" y="0"/>
                </a:lnTo>
                <a:close/>
              </a:path>
            </a:pathLst>
          </a:custGeom>
          <a:blipFill>
            <a:blip r:embed="rId2">
              <a:alphaModFix amt="24000"/>
            </a:blip>
            <a:stretch>
              <a:fillRect/>
            </a:stretch>
          </a:blipFill>
        </p:spPr>
        <p:txBody>
          <a:bodyPr/>
          <a:lstStyle/>
          <a:p>
            <a:endParaRPr lang="en-US"/>
          </a:p>
        </p:txBody>
      </p:sp>
      <p:sp>
        <p:nvSpPr>
          <p:cNvPr id="6" name="TextBox 6"/>
          <p:cNvSpPr txBox="1"/>
          <p:nvPr/>
        </p:nvSpPr>
        <p:spPr>
          <a:xfrm>
            <a:off x="2859885" y="373130"/>
            <a:ext cx="16581230" cy="879023"/>
          </a:xfrm>
          <a:prstGeom prst="rect">
            <a:avLst/>
          </a:prstGeom>
        </p:spPr>
        <p:txBody>
          <a:bodyPr wrap="square" lIns="0" tIns="0" rIns="0" bIns="0" rtlCol="0" anchor="t">
            <a:spAutoFit/>
          </a:bodyPr>
          <a:lstStyle/>
          <a:p>
            <a:pPr algn="l">
              <a:lnSpc>
                <a:spcPts val="7332"/>
              </a:lnSpc>
            </a:pPr>
            <a:r>
              <a:rPr lang="en-US" sz="6000" b="1" spc="-366" dirty="0">
                <a:solidFill>
                  <a:srgbClr val="0C1322"/>
                </a:solidFill>
                <a:latin typeface="Open Sauce Heavy"/>
                <a:ea typeface="Open Sauce Heavy"/>
                <a:cs typeface="Open Sauce Heavy"/>
                <a:sym typeface="Open Sauce Heavy"/>
              </a:rPr>
              <a:t>Identified Issues And Possible Root Causes:</a:t>
            </a:r>
          </a:p>
        </p:txBody>
      </p:sp>
      <p:sp>
        <p:nvSpPr>
          <p:cNvPr id="8" name="Freeform 8"/>
          <p:cNvSpPr/>
          <p:nvPr/>
        </p:nvSpPr>
        <p:spPr>
          <a:xfrm rot="2700000" flipH="1">
            <a:off x="10374267" y="-127746"/>
            <a:ext cx="9290530" cy="6858100"/>
          </a:xfrm>
          <a:custGeom>
            <a:avLst/>
            <a:gdLst/>
            <a:ahLst/>
            <a:cxnLst/>
            <a:rect l="l" t="t" r="r" b="b"/>
            <a:pathLst>
              <a:path w="9290530" h="6858100">
                <a:moveTo>
                  <a:pt x="9290530" y="0"/>
                </a:moveTo>
                <a:lnTo>
                  <a:pt x="0" y="0"/>
                </a:lnTo>
                <a:lnTo>
                  <a:pt x="0" y="6858100"/>
                </a:lnTo>
                <a:lnTo>
                  <a:pt x="9290530" y="6858100"/>
                </a:lnTo>
                <a:lnTo>
                  <a:pt x="9290530" y="0"/>
                </a:lnTo>
                <a:close/>
              </a:path>
            </a:pathLst>
          </a:custGeom>
          <a:blipFill>
            <a:blip r:embed="rId3">
              <a:alphaModFix amt="28000"/>
            </a:blip>
            <a:stretch>
              <a:fillRect/>
            </a:stretch>
          </a:blipFill>
        </p:spPr>
        <p:txBody>
          <a:bodyPr/>
          <a:lstStyle/>
          <a:p>
            <a:endParaRPr lang="en-US"/>
          </a:p>
        </p:txBody>
      </p:sp>
      <p:grpSp>
        <p:nvGrpSpPr>
          <p:cNvPr id="11" name="Group 5">
            <a:extLst>
              <a:ext uri="{FF2B5EF4-FFF2-40B4-BE49-F238E27FC236}">
                <a16:creationId xmlns:a16="http://schemas.microsoft.com/office/drawing/2014/main" id="{1A7BCF8B-D4E8-941D-BE09-E4D7A7A39C8B}"/>
              </a:ext>
            </a:extLst>
          </p:cNvPr>
          <p:cNvGrpSpPr/>
          <p:nvPr/>
        </p:nvGrpSpPr>
        <p:grpSpPr>
          <a:xfrm>
            <a:off x="328809" y="2203580"/>
            <a:ext cx="7417854" cy="1956835"/>
            <a:chOff x="-108429" y="-317688"/>
            <a:chExt cx="1953673" cy="515381"/>
          </a:xfrm>
        </p:grpSpPr>
        <p:sp>
          <p:nvSpPr>
            <p:cNvPr id="12" name="Freeform 6">
              <a:extLst>
                <a:ext uri="{FF2B5EF4-FFF2-40B4-BE49-F238E27FC236}">
                  <a16:creationId xmlns:a16="http://schemas.microsoft.com/office/drawing/2014/main" id="{10B79959-A80A-2A26-CAB1-0DD6591BA960}"/>
                </a:ext>
              </a:extLst>
            </p:cNvPr>
            <p:cNvSpPr/>
            <p:nvPr/>
          </p:nvSpPr>
          <p:spPr>
            <a:xfrm>
              <a:off x="-108429" y="-317688"/>
              <a:ext cx="1567728" cy="226268"/>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algn="ctr"/>
              <a:r>
                <a:rPr lang="en-US" dirty="0">
                  <a:latin typeface="Open Sauce" panose="020B0604020202020204" charset="0"/>
                </a:rPr>
                <a:t>Difficulty tracking/managing enquiries received</a:t>
              </a:r>
              <a:endParaRPr lang="en-ZA" dirty="0">
                <a:latin typeface="Open Sauce" panose="020B0604020202020204" charset="0"/>
              </a:endParaRPr>
            </a:p>
            <a:p>
              <a:pPr algn="ctr"/>
              <a:endParaRPr lang="en-ZA" dirty="0"/>
            </a:p>
          </p:txBody>
        </p:sp>
        <p:sp>
          <p:nvSpPr>
            <p:cNvPr id="13" name="TextBox 7">
              <a:extLst>
                <a:ext uri="{FF2B5EF4-FFF2-40B4-BE49-F238E27FC236}">
                  <a16:creationId xmlns:a16="http://schemas.microsoft.com/office/drawing/2014/main" id="{70A21558-17F0-304B-419E-225C9C27D9F2}"/>
                </a:ext>
              </a:extLst>
            </p:cNvPr>
            <p:cNvSpPr txBox="1"/>
            <p:nvPr/>
          </p:nvSpPr>
          <p:spPr>
            <a:xfrm>
              <a:off x="0" y="-28575"/>
              <a:ext cx="1845244" cy="226268"/>
            </a:xfrm>
            <a:prstGeom prst="rect">
              <a:avLst/>
            </a:prstGeom>
          </p:spPr>
          <p:txBody>
            <a:bodyPr lIns="50800" tIns="50800" rIns="50800" bIns="50800" rtlCol="0" anchor="ctr"/>
            <a:lstStyle/>
            <a:p>
              <a:pPr algn="ctr">
                <a:lnSpc>
                  <a:spcPts val="2015"/>
                </a:lnSpc>
              </a:pPr>
              <a:endParaRPr dirty="0"/>
            </a:p>
          </p:txBody>
        </p:sp>
      </p:grpSp>
      <p:sp>
        <p:nvSpPr>
          <p:cNvPr id="14" name="Freeform 6">
            <a:extLst>
              <a:ext uri="{FF2B5EF4-FFF2-40B4-BE49-F238E27FC236}">
                <a16:creationId xmlns:a16="http://schemas.microsoft.com/office/drawing/2014/main" id="{6732EFFF-CFDE-FEC2-2E36-E7B0F98E97AD}"/>
              </a:ext>
            </a:extLst>
          </p:cNvPr>
          <p:cNvSpPr/>
          <p:nvPr/>
        </p:nvSpPr>
        <p:spPr>
          <a:xfrm>
            <a:off x="227839" y="3730860"/>
            <a:ext cx="5130009" cy="859110"/>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lgn="ctr"/>
            <a:r>
              <a:rPr lang="en-US" dirty="0">
                <a:latin typeface="Open Sauce" panose="020B0604020202020204" charset="0"/>
              </a:rPr>
              <a:t>Long response time to student enquiries</a:t>
            </a:r>
            <a:endParaRPr lang="en-ZA" dirty="0">
              <a:latin typeface="Open Sauce" panose="020B0604020202020204" charset="0"/>
            </a:endParaRPr>
          </a:p>
          <a:p>
            <a:pPr algn="r"/>
            <a:endParaRPr lang="en-ZA" dirty="0"/>
          </a:p>
        </p:txBody>
      </p:sp>
      <p:sp>
        <p:nvSpPr>
          <p:cNvPr id="17" name="Freeform 6">
            <a:extLst>
              <a:ext uri="{FF2B5EF4-FFF2-40B4-BE49-F238E27FC236}">
                <a16:creationId xmlns:a16="http://schemas.microsoft.com/office/drawing/2014/main" id="{A3E6C1E9-0C04-8B5D-D533-E653C2ACD0A0}"/>
              </a:ext>
            </a:extLst>
          </p:cNvPr>
          <p:cNvSpPr/>
          <p:nvPr/>
        </p:nvSpPr>
        <p:spPr>
          <a:xfrm>
            <a:off x="2778100" y="5069251"/>
            <a:ext cx="5952469" cy="859110"/>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r>
              <a:rPr lang="en-US" dirty="0">
                <a:latin typeface="Open Sauce" panose="020B0604020202020204" charset="0"/>
              </a:rPr>
              <a:t>        Operational pressure during peak periods</a:t>
            </a:r>
          </a:p>
          <a:p>
            <a:pPr algn="ctr"/>
            <a:endParaRPr lang="en-ZA" dirty="0"/>
          </a:p>
        </p:txBody>
      </p:sp>
      <p:sp>
        <p:nvSpPr>
          <p:cNvPr id="18" name="Freeform 6">
            <a:extLst>
              <a:ext uri="{FF2B5EF4-FFF2-40B4-BE49-F238E27FC236}">
                <a16:creationId xmlns:a16="http://schemas.microsoft.com/office/drawing/2014/main" id="{64D6A0C4-EFEE-6480-79AB-81707F1F3D01}"/>
              </a:ext>
            </a:extLst>
          </p:cNvPr>
          <p:cNvSpPr/>
          <p:nvPr/>
        </p:nvSpPr>
        <p:spPr>
          <a:xfrm>
            <a:off x="7048135" y="2069679"/>
            <a:ext cx="8649065" cy="1059908"/>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lgn="ctr"/>
            <a:r>
              <a:rPr lang="en-US" dirty="0">
                <a:latin typeface="Open Sauce" panose="020B0604020202020204" charset="0"/>
              </a:rPr>
              <a:t>     Forwarded enquiries and inconsistent enquiry responses ( a run around for students)</a:t>
            </a:r>
            <a:endParaRPr lang="en-ZA" dirty="0">
              <a:latin typeface="Open Sauce" panose="020B0604020202020204" charset="0"/>
            </a:endParaRPr>
          </a:p>
          <a:p>
            <a:pPr algn="ctr"/>
            <a:endParaRPr lang="en-ZA" dirty="0"/>
          </a:p>
        </p:txBody>
      </p:sp>
      <p:sp>
        <p:nvSpPr>
          <p:cNvPr id="19" name="Freeform 6">
            <a:extLst>
              <a:ext uri="{FF2B5EF4-FFF2-40B4-BE49-F238E27FC236}">
                <a16:creationId xmlns:a16="http://schemas.microsoft.com/office/drawing/2014/main" id="{0AE02AA4-6B57-45FC-6CDD-43D7BEFB9DAD}"/>
              </a:ext>
            </a:extLst>
          </p:cNvPr>
          <p:cNvSpPr/>
          <p:nvPr/>
        </p:nvSpPr>
        <p:spPr>
          <a:xfrm>
            <a:off x="11220672" y="3392901"/>
            <a:ext cx="5952469" cy="1059908"/>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lgn="ctr"/>
            <a:r>
              <a:rPr lang="en-US" dirty="0">
                <a:latin typeface="Open Sauce" panose="020B0604020202020204" charset="0"/>
              </a:rPr>
              <a:t>Independent methods across departments to manage enquiries </a:t>
            </a:r>
            <a:endParaRPr lang="en-ZA" dirty="0">
              <a:latin typeface="Open Sauce" panose="020B0604020202020204" charset="0"/>
            </a:endParaRPr>
          </a:p>
          <a:p>
            <a:pPr algn="ctr"/>
            <a:endParaRPr lang="en-ZA" dirty="0"/>
          </a:p>
        </p:txBody>
      </p:sp>
      <p:sp>
        <p:nvSpPr>
          <p:cNvPr id="20" name="Freeform 6">
            <a:extLst>
              <a:ext uri="{FF2B5EF4-FFF2-40B4-BE49-F238E27FC236}">
                <a16:creationId xmlns:a16="http://schemas.microsoft.com/office/drawing/2014/main" id="{AEAC0D0A-352A-B199-6609-0DA8C0130928}"/>
              </a:ext>
            </a:extLst>
          </p:cNvPr>
          <p:cNvSpPr/>
          <p:nvPr/>
        </p:nvSpPr>
        <p:spPr>
          <a:xfrm>
            <a:off x="538169" y="7654438"/>
            <a:ext cx="4643432" cy="1146661"/>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chemeClr val="tx2">
              <a:lumMod val="75000"/>
            </a:schemeClr>
          </a:solidFill>
          <a:ln w="19050" cap="rnd">
            <a:solidFill>
              <a:srgbClr val="424242"/>
            </a:solidFill>
            <a:prstDash val="solid"/>
            <a:round/>
          </a:ln>
        </p:spPr>
        <p:txBody>
          <a:bodyPr/>
          <a:lstStyle/>
          <a:p>
            <a:pPr algn="ctr"/>
            <a:endParaRPr lang="en-US" sz="2000" dirty="0">
              <a:latin typeface="Open Sauce" panose="020B0604020202020204" charset="0"/>
            </a:endParaRPr>
          </a:p>
          <a:p>
            <a:pPr lvl="0" algn="ctr"/>
            <a:r>
              <a:rPr lang="en-US" sz="2000" dirty="0">
                <a:solidFill>
                  <a:schemeClr val="bg1">
                    <a:lumMod val="95000"/>
                  </a:schemeClr>
                </a:solidFill>
                <a:latin typeface="Open Sauce" panose="020B0604020202020204" charset="0"/>
              </a:rPr>
              <a:t>        Multiple channels for student enquiries</a:t>
            </a:r>
          </a:p>
          <a:p>
            <a:pPr algn="ctr"/>
            <a:endParaRPr lang="en-ZA" sz="2000" dirty="0">
              <a:solidFill>
                <a:schemeClr val="bg1">
                  <a:lumMod val="95000"/>
                </a:schemeClr>
              </a:solidFill>
              <a:latin typeface="Open Sauce" panose="020B0604020202020204" charset="0"/>
            </a:endParaRPr>
          </a:p>
        </p:txBody>
      </p:sp>
      <p:sp>
        <p:nvSpPr>
          <p:cNvPr id="21" name="Freeform 6">
            <a:extLst>
              <a:ext uri="{FF2B5EF4-FFF2-40B4-BE49-F238E27FC236}">
                <a16:creationId xmlns:a16="http://schemas.microsoft.com/office/drawing/2014/main" id="{DBD8C0E2-9C11-BE08-62FA-4E4908306717}"/>
              </a:ext>
            </a:extLst>
          </p:cNvPr>
          <p:cNvSpPr/>
          <p:nvPr/>
        </p:nvSpPr>
        <p:spPr>
          <a:xfrm>
            <a:off x="12305657" y="7782322"/>
            <a:ext cx="5316608" cy="1013333"/>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chemeClr val="tx2">
              <a:lumMod val="75000"/>
            </a:schemeClr>
          </a:solidFill>
          <a:ln w="19050" cap="rnd">
            <a:solidFill>
              <a:srgbClr val="424242"/>
            </a:solidFill>
            <a:prstDash val="solid"/>
            <a:round/>
          </a:ln>
        </p:spPr>
        <p:txBody>
          <a:bodyPr/>
          <a:lstStyle/>
          <a:p>
            <a:pPr algn="ctr"/>
            <a:endParaRPr lang="en-US" sz="2000" dirty="0">
              <a:solidFill>
                <a:schemeClr val="bg1">
                  <a:lumMod val="95000"/>
                </a:schemeClr>
              </a:solidFill>
              <a:latin typeface="Open Sauce" panose="020B0604020202020204" charset="0"/>
            </a:endParaRPr>
          </a:p>
          <a:p>
            <a:pPr algn="ctr"/>
            <a:r>
              <a:rPr lang="en-US" sz="2000" dirty="0">
                <a:solidFill>
                  <a:schemeClr val="bg1">
                    <a:lumMod val="95000"/>
                  </a:schemeClr>
                </a:solidFill>
                <a:latin typeface="Open Sauce" panose="020B0604020202020204" charset="0"/>
              </a:rPr>
              <a:t>No centralized process/system</a:t>
            </a:r>
          </a:p>
          <a:p>
            <a:pPr algn="ctr"/>
            <a:endParaRPr lang="en-ZA" sz="2000" dirty="0">
              <a:solidFill>
                <a:schemeClr val="bg1">
                  <a:lumMod val="95000"/>
                </a:schemeClr>
              </a:solidFill>
              <a:latin typeface="Open Sauce" panose="020B0604020202020204" charset="0"/>
            </a:endParaRPr>
          </a:p>
        </p:txBody>
      </p:sp>
      <p:sp>
        <p:nvSpPr>
          <p:cNvPr id="22" name="Freeform 6">
            <a:extLst>
              <a:ext uri="{FF2B5EF4-FFF2-40B4-BE49-F238E27FC236}">
                <a16:creationId xmlns:a16="http://schemas.microsoft.com/office/drawing/2014/main" id="{03985D4C-F23D-3F17-CCC1-BAC6C58ADAD7}"/>
              </a:ext>
            </a:extLst>
          </p:cNvPr>
          <p:cNvSpPr/>
          <p:nvPr/>
        </p:nvSpPr>
        <p:spPr>
          <a:xfrm>
            <a:off x="6037181" y="3632839"/>
            <a:ext cx="4504158" cy="1059908"/>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lgn="ctr"/>
            <a:r>
              <a:rPr lang="en-US" dirty="0">
                <a:latin typeface="Open Sauce" panose="020B0604020202020204" charset="0"/>
              </a:rPr>
              <a:t>Difficulty prioritizing enquiries received</a:t>
            </a:r>
          </a:p>
          <a:p>
            <a:pPr algn="ctr"/>
            <a:endParaRPr lang="en-ZA" dirty="0"/>
          </a:p>
        </p:txBody>
      </p:sp>
      <p:sp>
        <p:nvSpPr>
          <p:cNvPr id="23" name="Freeform 6">
            <a:extLst>
              <a:ext uri="{FF2B5EF4-FFF2-40B4-BE49-F238E27FC236}">
                <a16:creationId xmlns:a16="http://schemas.microsoft.com/office/drawing/2014/main" id="{FFA60361-A60E-2166-844C-8E97919460A1}"/>
              </a:ext>
            </a:extLst>
          </p:cNvPr>
          <p:cNvSpPr/>
          <p:nvPr/>
        </p:nvSpPr>
        <p:spPr>
          <a:xfrm>
            <a:off x="6085705" y="7787765"/>
            <a:ext cx="5244509" cy="1013333"/>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chemeClr val="tx2">
              <a:lumMod val="75000"/>
            </a:schemeClr>
          </a:solidFill>
          <a:ln w="19050" cap="rnd">
            <a:solidFill>
              <a:srgbClr val="424242"/>
            </a:solidFill>
            <a:prstDash val="solid"/>
            <a:round/>
          </a:ln>
        </p:spPr>
        <p:txBody>
          <a:bodyPr/>
          <a:lstStyle/>
          <a:p>
            <a:pPr algn="ctr"/>
            <a:endParaRPr lang="en-US" sz="2000" dirty="0">
              <a:solidFill>
                <a:schemeClr val="bg1">
                  <a:lumMod val="95000"/>
                </a:schemeClr>
              </a:solidFill>
              <a:latin typeface="Open Sauce" panose="020B0604020202020204" charset="0"/>
            </a:endParaRPr>
          </a:p>
          <a:p>
            <a:pPr algn="ctr"/>
            <a:r>
              <a:rPr lang="en-US" sz="2000" dirty="0">
                <a:solidFill>
                  <a:schemeClr val="bg1">
                    <a:lumMod val="95000"/>
                  </a:schemeClr>
                </a:solidFill>
                <a:latin typeface="Open Sauce" panose="020B0604020202020204" charset="0"/>
              </a:rPr>
              <a:t>Lack of standard processes/policies</a:t>
            </a:r>
          </a:p>
          <a:p>
            <a:pPr algn="ctr"/>
            <a:endParaRPr lang="en-ZA" sz="2000" dirty="0">
              <a:solidFill>
                <a:schemeClr val="bg1">
                  <a:lumMod val="95000"/>
                </a:schemeClr>
              </a:solidFill>
              <a:latin typeface="Open Sauce" panose="020B0604020202020204" charset="0"/>
            </a:endParaRPr>
          </a:p>
        </p:txBody>
      </p:sp>
      <p:sp>
        <p:nvSpPr>
          <p:cNvPr id="24" name="Freeform 6">
            <a:extLst>
              <a:ext uri="{FF2B5EF4-FFF2-40B4-BE49-F238E27FC236}">
                <a16:creationId xmlns:a16="http://schemas.microsoft.com/office/drawing/2014/main" id="{728D1978-584E-395F-3535-C475C3D96A9D}"/>
              </a:ext>
            </a:extLst>
          </p:cNvPr>
          <p:cNvSpPr/>
          <p:nvPr/>
        </p:nvSpPr>
        <p:spPr>
          <a:xfrm>
            <a:off x="9310129" y="4959912"/>
            <a:ext cx="6387071" cy="1059908"/>
          </a:xfrm>
          <a:custGeom>
            <a:avLst/>
            <a:gdLst/>
            <a:ahLst/>
            <a:cxnLst/>
            <a:rect l="l" t="t" r="r" b="b"/>
            <a:pathLst>
              <a:path w="1845245" h="197693">
                <a:moveTo>
                  <a:pt x="72931" y="0"/>
                </a:moveTo>
                <a:lnTo>
                  <a:pt x="1772314" y="0"/>
                </a:lnTo>
                <a:cubicBezTo>
                  <a:pt x="1791656" y="0"/>
                  <a:pt x="1810206" y="7684"/>
                  <a:pt x="1823884" y="21361"/>
                </a:cubicBezTo>
                <a:cubicBezTo>
                  <a:pt x="1837561" y="35038"/>
                  <a:pt x="1845245" y="53589"/>
                  <a:pt x="1845245" y="72931"/>
                </a:cubicBezTo>
                <a:lnTo>
                  <a:pt x="1845245" y="124762"/>
                </a:lnTo>
                <a:cubicBezTo>
                  <a:pt x="1845245" y="144104"/>
                  <a:pt x="1837561" y="162654"/>
                  <a:pt x="1823884" y="176332"/>
                </a:cubicBezTo>
                <a:cubicBezTo>
                  <a:pt x="1810206" y="190009"/>
                  <a:pt x="1791656" y="197693"/>
                  <a:pt x="1772314" y="197693"/>
                </a:cubicBezTo>
                <a:lnTo>
                  <a:pt x="72931" y="197693"/>
                </a:lnTo>
                <a:cubicBezTo>
                  <a:pt x="53589" y="197693"/>
                  <a:pt x="35038" y="190009"/>
                  <a:pt x="21361" y="176332"/>
                </a:cubicBezTo>
                <a:cubicBezTo>
                  <a:pt x="7684" y="162654"/>
                  <a:pt x="0" y="144104"/>
                  <a:pt x="0" y="124762"/>
                </a:cubicBezTo>
                <a:lnTo>
                  <a:pt x="0" y="72931"/>
                </a:lnTo>
                <a:cubicBezTo>
                  <a:pt x="0" y="53589"/>
                  <a:pt x="7684" y="35038"/>
                  <a:pt x="21361" y="21361"/>
                </a:cubicBezTo>
                <a:cubicBezTo>
                  <a:pt x="35038" y="7684"/>
                  <a:pt x="53589" y="0"/>
                  <a:pt x="72931" y="0"/>
                </a:cubicBezTo>
                <a:close/>
              </a:path>
            </a:pathLst>
          </a:custGeom>
          <a:solidFill>
            <a:srgbClr val="D0D7DD"/>
          </a:solidFill>
          <a:ln w="19050" cap="rnd">
            <a:solidFill>
              <a:srgbClr val="424242"/>
            </a:solidFill>
            <a:prstDash val="solid"/>
            <a:round/>
          </a:ln>
        </p:spPr>
        <p:txBody>
          <a:bodyPr/>
          <a:lstStyle/>
          <a:p>
            <a:pPr algn="ctr"/>
            <a:endParaRPr lang="en-US" dirty="0">
              <a:latin typeface="Open Sauce" panose="020B0604020202020204" charset="0"/>
            </a:endParaRPr>
          </a:p>
          <a:p>
            <a:pPr lvl="0" algn="ctr"/>
            <a:r>
              <a:rPr lang="en-US" dirty="0">
                <a:latin typeface="Open Sauce" panose="020B0604020202020204" charset="0"/>
              </a:rPr>
              <a:t>Lack of visibility on enquiry volume/bottleneck/progress</a:t>
            </a:r>
          </a:p>
          <a:p>
            <a:pPr algn="ctr"/>
            <a:endParaRPr lang="en-Z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circle(in)">
                                      <p:cBhvr>
                                        <p:cTn id="10" dur="2000"/>
                                        <p:tgtEl>
                                          <p:spTgt spid="1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ircle(in)">
                                      <p:cBhvr>
                                        <p:cTn id="13" dur="2000"/>
                                        <p:tgtEl>
                                          <p:spTgt spid="1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circle(in)">
                                      <p:cBhvr>
                                        <p:cTn id="16" dur="2000"/>
                                        <p:tgtEl>
                                          <p:spTgt spid="19"/>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circle(in)">
                                      <p:cBhvr>
                                        <p:cTn id="19" dur="2000"/>
                                        <p:tgtEl>
                                          <p:spTgt spid="22"/>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ircle(in)">
                                      <p:cBhvr>
                                        <p:cTn id="22" dur="2000"/>
                                        <p:tgtEl>
                                          <p:spTgt spid="24"/>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circle(in)">
                                      <p:cBhvr>
                                        <p:cTn id="25" dur="2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additive="base">
                                        <p:cTn id="30" dur="500" fill="hold"/>
                                        <p:tgtEl>
                                          <p:spTgt spid="20"/>
                                        </p:tgtEl>
                                        <p:attrNameLst>
                                          <p:attrName>ppt_x</p:attrName>
                                        </p:attrNameLst>
                                      </p:cBhvr>
                                      <p:tavLst>
                                        <p:tav tm="0">
                                          <p:val>
                                            <p:strVal val="#ppt_x"/>
                                          </p:val>
                                        </p:tav>
                                        <p:tav tm="100000">
                                          <p:val>
                                            <p:strVal val="#ppt_x"/>
                                          </p:val>
                                        </p:tav>
                                      </p:tavLst>
                                    </p:anim>
                                    <p:anim calcmode="lin" valueType="num">
                                      <p:cBhvr additive="base">
                                        <p:cTn id="31" dur="500" fill="hold"/>
                                        <p:tgtEl>
                                          <p:spTgt spid="20"/>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additive="base">
                                        <p:cTn id="34" dur="500" fill="hold"/>
                                        <p:tgtEl>
                                          <p:spTgt spid="23"/>
                                        </p:tgtEl>
                                        <p:attrNameLst>
                                          <p:attrName>ppt_x</p:attrName>
                                        </p:attrNameLst>
                                      </p:cBhvr>
                                      <p:tavLst>
                                        <p:tav tm="0">
                                          <p:val>
                                            <p:strVal val="#ppt_x"/>
                                          </p:val>
                                        </p:tav>
                                        <p:tav tm="100000">
                                          <p:val>
                                            <p:strVal val="#ppt_x"/>
                                          </p:val>
                                        </p:tav>
                                      </p:tavLst>
                                    </p:anim>
                                    <p:anim calcmode="lin" valueType="num">
                                      <p:cBhvr additive="base">
                                        <p:cTn id="35" dur="500" fill="hold"/>
                                        <p:tgtEl>
                                          <p:spTgt spid="23"/>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additive="base">
                                        <p:cTn id="38" dur="500" fill="hold"/>
                                        <p:tgtEl>
                                          <p:spTgt spid="21"/>
                                        </p:tgtEl>
                                        <p:attrNameLst>
                                          <p:attrName>ppt_x</p:attrName>
                                        </p:attrNameLst>
                                      </p:cBhvr>
                                      <p:tavLst>
                                        <p:tav tm="0">
                                          <p:val>
                                            <p:strVal val="#ppt_x"/>
                                          </p:val>
                                        </p:tav>
                                        <p:tav tm="100000">
                                          <p:val>
                                            <p:strVal val="#ppt_x"/>
                                          </p:val>
                                        </p:tav>
                                      </p:tavLst>
                                    </p:anim>
                                    <p:anim calcmode="lin" valueType="num">
                                      <p:cBhvr additive="base">
                                        <p:cTn id="3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3" name="TextBox 3"/>
          <p:cNvSpPr txBox="1"/>
          <p:nvPr/>
        </p:nvSpPr>
        <p:spPr>
          <a:xfrm>
            <a:off x="371736" y="2086335"/>
            <a:ext cx="7400664" cy="1341970"/>
          </a:xfrm>
          <a:prstGeom prst="rect">
            <a:avLst/>
          </a:prstGeom>
        </p:spPr>
        <p:txBody>
          <a:bodyPr lIns="0" tIns="0" rIns="0" bIns="0" rtlCol="0" anchor="t">
            <a:spAutoFit/>
          </a:bodyPr>
          <a:lstStyle/>
          <a:p>
            <a:pPr algn="l">
              <a:lnSpc>
                <a:spcPts val="11468"/>
              </a:lnSpc>
            </a:pPr>
            <a:r>
              <a:rPr lang="en-US" sz="8000" b="1" spc="-573" dirty="0">
                <a:solidFill>
                  <a:srgbClr val="424242"/>
                </a:solidFill>
                <a:latin typeface="Open Sauce Heavy"/>
                <a:ea typeface="Open Sauce Heavy"/>
                <a:cs typeface="Open Sauce Heavy"/>
                <a:sym typeface="Open Sauce Heavy"/>
              </a:rPr>
              <a:t>Current state</a:t>
            </a:r>
          </a:p>
        </p:txBody>
      </p:sp>
      <p:sp>
        <p:nvSpPr>
          <p:cNvPr id="4" name="TextBox 4"/>
          <p:cNvSpPr txBox="1"/>
          <p:nvPr/>
        </p:nvSpPr>
        <p:spPr>
          <a:xfrm>
            <a:off x="598714" y="3698549"/>
            <a:ext cx="6107988" cy="5129609"/>
          </a:xfrm>
          <a:prstGeom prst="rect">
            <a:avLst/>
          </a:prstGeom>
        </p:spPr>
        <p:txBody>
          <a:bodyPr wrap="square" lIns="0" tIns="0" rIns="0" bIns="0" rtlCol="0" anchor="t">
            <a:spAutoFit/>
          </a:bodyPr>
          <a:lstStyle/>
          <a:p>
            <a:pPr>
              <a:lnSpc>
                <a:spcPts val="2520"/>
              </a:lnSpc>
            </a:pPr>
            <a:r>
              <a:rPr lang="en-US" sz="2200" spc="-84" dirty="0">
                <a:solidFill>
                  <a:srgbClr val="0C1322"/>
                </a:solidFill>
                <a:latin typeface="Open Sauce" panose="020B0604020202020204" charset="0"/>
                <a:ea typeface="Open Sauce Light"/>
                <a:cs typeface="Open Sauce Light"/>
                <a:sym typeface="Open Sauce Light"/>
              </a:rPr>
              <a:t>At </a:t>
            </a:r>
            <a:r>
              <a:rPr lang="en-US" sz="2200" spc="-140" dirty="0">
                <a:solidFill>
                  <a:srgbClr val="0C1322"/>
                </a:solidFill>
                <a:latin typeface="Open Sauce" panose="020B0604020202020204" charset="0"/>
                <a:ea typeface="Open Sauce"/>
                <a:cs typeface="Open Sauce"/>
                <a:sym typeface="Open Sauce"/>
              </a:rPr>
              <a:t>Northbridge University, students who need help with admin/registration/tuition etc., will contact the student services office either through email, calling, going in-person to  enquire.</a:t>
            </a:r>
          </a:p>
          <a:p>
            <a:pPr>
              <a:lnSpc>
                <a:spcPts val="2520"/>
              </a:lnSpc>
            </a:pPr>
            <a:r>
              <a:rPr lang="en-US" sz="2200" spc="-140" dirty="0">
                <a:solidFill>
                  <a:srgbClr val="0C1322"/>
                </a:solidFill>
                <a:latin typeface="Open Sauce" panose="020B0604020202020204" charset="0"/>
                <a:ea typeface="Open Sauce Light"/>
                <a:cs typeface="Open Sauce Light"/>
                <a:sym typeface="Open Sauce"/>
              </a:rPr>
              <a:t>This enquiry will be directed by the student services offices to the  department they find to be relevant to assist with the enquiry. The enquiry my be forwarded between department should it not be relevant to that department. The department will proceed to acknowledge the enquiry respectively (a spreadsheet, manually on paper etc.). Once the enquiry is fulfilled and the student has received feedback (probably through email) , the enquiry has been processed (maybe greened off on the spreadsheet). The student if  assisted will proceed accordingly, otherwise they  will enquire again.</a:t>
            </a:r>
            <a:endParaRPr lang="en-US" sz="2200" spc="-84" dirty="0">
              <a:solidFill>
                <a:srgbClr val="0C1322"/>
              </a:solidFill>
              <a:latin typeface="Open Sauce" panose="020B0604020202020204" charset="0"/>
              <a:ea typeface="Open Sauce Light"/>
              <a:cs typeface="Open Sauce Light"/>
              <a:sym typeface="Open Sauce Light"/>
            </a:endParaRPr>
          </a:p>
        </p:txBody>
      </p:sp>
      <p:grpSp>
        <p:nvGrpSpPr>
          <p:cNvPr id="17" name="Group 17"/>
          <p:cNvGrpSpPr/>
          <p:nvPr/>
        </p:nvGrpSpPr>
        <p:grpSpPr>
          <a:xfrm>
            <a:off x="7159366" y="800099"/>
            <a:ext cx="10977696" cy="8001001"/>
            <a:chOff x="0" y="0"/>
            <a:chExt cx="2204742" cy="2214360"/>
          </a:xfrm>
        </p:grpSpPr>
        <p:sp>
          <p:nvSpPr>
            <p:cNvPr id="18" name="Freeform 18"/>
            <p:cNvSpPr/>
            <p:nvPr/>
          </p:nvSpPr>
          <p:spPr>
            <a:xfrm>
              <a:off x="0" y="0"/>
              <a:ext cx="2204742" cy="2214360"/>
            </a:xfrm>
            <a:custGeom>
              <a:avLst/>
              <a:gdLst/>
              <a:ahLst/>
              <a:cxnLst/>
              <a:rect l="l" t="t" r="r" b="b"/>
              <a:pathLst>
                <a:path w="2204742" h="2214360">
                  <a:moveTo>
                    <a:pt x="86010" y="0"/>
                  </a:moveTo>
                  <a:lnTo>
                    <a:pt x="2118732" y="0"/>
                  </a:lnTo>
                  <a:cubicBezTo>
                    <a:pt x="2141544" y="0"/>
                    <a:pt x="2163421" y="9062"/>
                    <a:pt x="2179550" y="25192"/>
                  </a:cubicBezTo>
                  <a:cubicBezTo>
                    <a:pt x="2195681" y="41322"/>
                    <a:pt x="2204742" y="63199"/>
                    <a:pt x="2204742" y="86010"/>
                  </a:cubicBezTo>
                  <a:lnTo>
                    <a:pt x="2204742" y="2128351"/>
                  </a:lnTo>
                  <a:cubicBezTo>
                    <a:pt x="2204742" y="2175852"/>
                    <a:pt x="2166234" y="2214360"/>
                    <a:pt x="2118732" y="2214360"/>
                  </a:cubicBezTo>
                  <a:lnTo>
                    <a:pt x="86010" y="2214360"/>
                  </a:lnTo>
                  <a:cubicBezTo>
                    <a:pt x="38508" y="2214360"/>
                    <a:pt x="0" y="2175852"/>
                    <a:pt x="0" y="2128351"/>
                  </a:cubicBezTo>
                  <a:lnTo>
                    <a:pt x="0" y="86010"/>
                  </a:lnTo>
                  <a:cubicBezTo>
                    <a:pt x="0" y="38508"/>
                    <a:pt x="38508" y="0"/>
                    <a:pt x="86010" y="0"/>
                  </a:cubicBezTo>
                  <a:close/>
                </a:path>
              </a:pathLst>
            </a:custGeom>
            <a:solidFill>
              <a:srgbClr val="D0D7DD"/>
            </a:solidFill>
            <a:ln w="19050" cap="rnd">
              <a:solidFill>
                <a:srgbClr val="424242"/>
              </a:solidFill>
              <a:prstDash val="solid"/>
              <a:round/>
            </a:ln>
          </p:spPr>
          <p:txBody>
            <a:bodyPr/>
            <a:lstStyle/>
            <a:p>
              <a:endParaRPr lang="en-US"/>
            </a:p>
          </p:txBody>
        </p:sp>
        <p:sp>
          <p:nvSpPr>
            <p:cNvPr id="19" name="TextBox 19"/>
            <p:cNvSpPr txBox="1"/>
            <p:nvPr/>
          </p:nvSpPr>
          <p:spPr>
            <a:xfrm>
              <a:off x="0" y="-28575"/>
              <a:ext cx="2204742" cy="2242935"/>
            </a:xfrm>
            <a:prstGeom prst="rect">
              <a:avLst/>
            </a:prstGeom>
          </p:spPr>
          <p:txBody>
            <a:bodyPr lIns="50800" tIns="50800" rIns="50800" bIns="50800" rtlCol="0" anchor="ctr"/>
            <a:lstStyle/>
            <a:p>
              <a:pPr algn="ctr">
                <a:lnSpc>
                  <a:spcPts val="2015"/>
                </a:lnSpc>
              </a:pPr>
              <a:endParaRPr dirty="0"/>
            </a:p>
          </p:txBody>
        </p:sp>
      </p:grpSp>
      <p:sp>
        <p:nvSpPr>
          <p:cNvPr id="22" name="Freeform 2">
            <a:extLst>
              <a:ext uri="{FF2B5EF4-FFF2-40B4-BE49-F238E27FC236}">
                <a16:creationId xmlns:a16="http://schemas.microsoft.com/office/drawing/2014/main" id="{A8261308-C8DB-A19B-7F20-1D25698B893F}"/>
              </a:ext>
            </a:extLst>
          </p:cNvPr>
          <p:cNvSpPr/>
          <p:nvPr/>
        </p:nvSpPr>
        <p:spPr>
          <a:xfrm rot="-1977201">
            <a:off x="-2895895" y="-5624516"/>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28000"/>
            </a:blip>
            <a:stretch>
              <a:fillRect/>
            </a:stretch>
          </a:blipFill>
        </p:spPr>
        <p:txBody>
          <a:bodyPr/>
          <a:lstStyle/>
          <a:p>
            <a:endParaRPr lang="en-ZA" dirty="0"/>
          </a:p>
        </p:txBody>
      </p:sp>
      <p:pic>
        <p:nvPicPr>
          <p:cNvPr id="25" name="Picture 24">
            <a:extLst>
              <a:ext uri="{FF2B5EF4-FFF2-40B4-BE49-F238E27FC236}">
                <a16:creationId xmlns:a16="http://schemas.microsoft.com/office/drawing/2014/main" id="{96E840E5-88AC-805D-9CFA-2636BCD84B13}"/>
              </a:ext>
            </a:extLst>
          </p:cNvPr>
          <p:cNvPicPr>
            <a:picLocks noChangeAspect="1"/>
          </p:cNvPicPr>
          <p:nvPr/>
        </p:nvPicPr>
        <p:blipFill>
          <a:blip r:embed="rId3"/>
          <a:stretch>
            <a:fillRect/>
          </a:stretch>
        </p:blipFill>
        <p:spPr>
          <a:xfrm>
            <a:off x="7414487" y="2573922"/>
            <a:ext cx="10722575" cy="5204180"/>
          </a:xfrm>
          <a:prstGeom prst="rect">
            <a:avLst/>
          </a:prstGeom>
        </p:spPr>
      </p:pic>
      <p:sp>
        <p:nvSpPr>
          <p:cNvPr id="2" name="Freeform 2"/>
          <p:cNvSpPr/>
          <p:nvPr/>
        </p:nvSpPr>
        <p:spPr>
          <a:xfrm rot="-1977201">
            <a:off x="13426328" y="-4425360"/>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28000"/>
            </a:blip>
            <a:stretch>
              <a:fillRect/>
            </a:stretch>
          </a:blipFill>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par>
                                <p:cTn id="8" presetID="21" presetClass="entr" presetSubtype="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heel(1)">
                                      <p:cBhvr>
                                        <p:cTn id="1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grpSp>
        <p:nvGrpSpPr>
          <p:cNvPr id="2" name="Group 2"/>
          <p:cNvGrpSpPr/>
          <p:nvPr/>
        </p:nvGrpSpPr>
        <p:grpSpPr>
          <a:xfrm>
            <a:off x="10037808" y="785313"/>
            <a:ext cx="8472987" cy="847298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50000"/>
                  </a:srgbClr>
                </a:gs>
                <a:gs pos="100000">
                  <a:srgbClr val="E4F2FF">
                    <a:alpha val="50000"/>
                  </a:srgbClr>
                </a:gs>
              </a:gsLst>
              <a:lin ang="0"/>
            </a:gradFill>
            <a:ln w="38100" cap="sq">
              <a:solidFill>
                <a:srgbClr val="FFFFFF">
                  <a:alpha val="49804"/>
                </a:srgbClr>
              </a:solidFill>
              <a:prstDash val="solid"/>
              <a:miter/>
            </a:ln>
          </p:spPr>
          <p:txBody>
            <a:bodyPr/>
            <a:lstStyle/>
            <a:p>
              <a:endParaRPr lang="en-US"/>
            </a:p>
          </p:txBody>
        </p:sp>
        <p:sp>
          <p:nvSpPr>
            <p:cNvPr id="4" name="TextBox 4"/>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dirty="0"/>
            </a:p>
          </p:txBody>
        </p:sp>
      </p:grpSp>
      <p:sp>
        <p:nvSpPr>
          <p:cNvPr id="5" name="Freeform 5"/>
          <p:cNvSpPr/>
          <p:nvPr/>
        </p:nvSpPr>
        <p:spPr>
          <a:xfrm>
            <a:off x="64223" y="360273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txBody>
          <a:bodyPr/>
          <a:lstStyle/>
          <a:p>
            <a:endParaRPr lang="en-US"/>
          </a:p>
        </p:txBody>
      </p:sp>
      <p:grpSp>
        <p:nvGrpSpPr>
          <p:cNvPr id="6" name="Group 6"/>
          <p:cNvGrpSpPr/>
          <p:nvPr/>
        </p:nvGrpSpPr>
        <p:grpSpPr>
          <a:xfrm>
            <a:off x="7976596" y="5622224"/>
            <a:ext cx="3996322" cy="3996322"/>
            <a:chOff x="0" y="0"/>
            <a:chExt cx="5328429" cy="5328429"/>
          </a:xfrm>
        </p:grpSpPr>
        <p:sp>
          <p:nvSpPr>
            <p:cNvPr id="7" name="Freeform 7"/>
            <p:cNvSpPr/>
            <p:nvPr/>
          </p:nvSpPr>
          <p:spPr>
            <a:xfrm>
              <a:off x="0" y="0"/>
              <a:ext cx="5328429" cy="5328429"/>
            </a:xfrm>
            <a:custGeom>
              <a:avLst/>
              <a:gdLst/>
              <a:ahLst/>
              <a:cxnLst/>
              <a:rect l="l" t="t" r="r" b="b"/>
              <a:pathLst>
                <a:path w="5328429" h="5328429">
                  <a:moveTo>
                    <a:pt x="0" y="0"/>
                  </a:moveTo>
                  <a:lnTo>
                    <a:pt x="5328429" y="0"/>
                  </a:lnTo>
                  <a:lnTo>
                    <a:pt x="5328429" y="5328429"/>
                  </a:lnTo>
                  <a:lnTo>
                    <a:pt x="0" y="5328429"/>
                  </a:lnTo>
                  <a:lnTo>
                    <a:pt x="0" y="0"/>
                  </a:lnTo>
                  <a:close/>
                </a:path>
              </a:pathLst>
            </a:custGeom>
            <a:blipFill>
              <a:blip r:embed="rId3"/>
              <a:stretch>
                <a:fillRect/>
              </a:stretch>
            </a:blipFill>
          </p:spPr>
          <p:txBody>
            <a:bodyPr/>
            <a:lstStyle/>
            <a:p>
              <a:endParaRPr lang="en-US"/>
            </a:p>
          </p:txBody>
        </p:sp>
        <p:grpSp>
          <p:nvGrpSpPr>
            <p:cNvPr id="8" name="Group 8"/>
            <p:cNvGrpSpPr/>
            <p:nvPr/>
          </p:nvGrpSpPr>
          <p:grpSpPr>
            <a:xfrm>
              <a:off x="0" y="0"/>
              <a:ext cx="5129543" cy="512954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93000"/>
                    </a:srgbClr>
                  </a:gs>
                  <a:gs pos="100000">
                    <a:srgbClr val="E4F2FF">
                      <a:alpha val="93000"/>
                    </a:srgbClr>
                  </a:gs>
                </a:gsLst>
                <a:lin ang="0"/>
              </a:gradFill>
              <a:ln w="38100" cap="sq">
                <a:solidFill>
                  <a:srgbClr val="FFFFFF">
                    <a:alpha val="92941"/>
                  </a:srgbClr>
                </a:solidFill>
                <a:prstDash val="solid"/>
                <a:miter/>
              </a:ln>
            </p:spPr>
            <p:txBody>
              <a:bodyPr/>
              <a:lstStyle/>
              <a:p>
                <a:endParaRPr lang="en-US"/>
              </a:p>
            </p:txBody>
          </p:sp>
          <p:sp>
            <p:nvSpPr>
              <p:cNvPr id="10" name="TextBox 10"/>
              <p:cNvSpPr txBox="1"/>
              <p:nvPr/>
            </p:nvSpPr>
            <p:spPr>
              <a:xfrm>
                <a:off x="76200" y="133350"/>
                <a:ext cx="660400" cy="603250"/>
              </a:xfrm>
              <a:prstGeom prst="rect">
                <a:avLst/>
              </a:prstGeom>
            </p:spPr>
            <p:txBody>
              <a:bodyPr lIns="42898" tIns="42898" rIns="42898" bIns="42898" rtlCol="0" anchor="ctr"/>
              <a:lstStyle/>
              <a:p>
                <a:pPr algn="ctr">
                  <a:lnSpc>
                    <a:spcPts val="2349"/>
                  </a:lnSpc>
                </a:pPr>
                <a:endParaRPr dirty="0"/>
              </a:p>
            </p:txBody>
          </p:sp>
        </p:grpSp>
      </p:grpSp>
      <p:sp>
        <p:nvSpPr>
          <p:cNvPr id="11" name="TextBox 11"/>
          <p:cNvSpPr txBox="1"/>
          <p:nvPr/>
        </p:nvSpPr>
        <p:spPr>
          <a:xfrm>
            <a:off x="926817" y="1965504"/>
            <a:ext cx="9905334" cy="1341970"/>
          </a:xfrm>
          <a:prstGeom prst="rect">
            <a:avLst/>
          </a:prstGeom>
        </p:spPr>
        <p:txBody>
          <a:bodyPr wrap="square" lIns="0" tIns="0" rIns="0" bIns="0" rtlCol="0" anchor="t">
            <a:spAutoFit/>
          </a:bodyPr>
          <a:lstStyle/>
          <a:p>
            <a:pPr algn="l">
              <a:lnSpc>
                <a:spcPts val="11468"/>
              </a:lnSpc>
            </a:pPr>
            <a:r>
              <a:rPr lang="en-US" sz="8000" b="1" spc="-573" dirty="0">
                <a:solidFill>
                  <a:srgbClr val="FFFFFF"/>
                </a:solidFill>
                <a:latin typeface="Open Sauce Heavy"/>
                <a:ea typeface="Open Sauce Heavy"/>
                <a:cs typeface="Open Sauce Heavy"/>
                <a:sym typeface="Open Sauce Heavy"/>
              </a:rPr>
              <a:t>Key Stakeholders</a:t>
            </a:r>
          </a:p>
        </p:txBody>
      </p:sp>
      <p:pic>
        <p:nvPicPr>
          <p:cNvPr id="21" name="Picture 20">
            <a:extLst>
              <a:ext uri="{FF2B5EF4-FFF2-40B4-BE49-F238E27FC236}">
                <a16:creationId xmlns:a16="http://schemas.microsoft.com/office/drawing/2014/main" id="{5F8836DF-86FC-733F-BB61-16772A206037}"/>
              </a:ext>
            </a:extLst>
          </p:cNvPr>
          <p:cNvPicPr>
            <a:picLocks noChangeAspect="1"/>
          </p:cNvPicPr>
          <p:nvPr/>
        </p:nvPicPr>
        <p:blipFill>
          <a:blip r:embed="rId4"/>
          <a:stretch>
            <a:fillRect/>
          </a:stretch>
        </p:blipFill>
        <p:spPr>
          <a:xfrm>
            <a:off x="12350722" y="2873345"/>
            <a:ext cx="3847157" cy="3847157"/>
          </a:xfrm>
          <a:prstGeom prst="rect">
            <a:avLst/>
          </a:prstGeom>
        </p:spPr>
      </p:pic>
      <p:sp>
        <p:nvSpPr>
          <p:cNvPr id="22" name="TextBox 21">
            <a:extLst>
              <a:ext uri="{FF2B5EF4-FFF2-40B4-BE49-F238E27FC236}">
                <a16:creationId xmlns:a16="http://schemas.microsoft.com/office/drawing/2014/main" id="{85F86DD5-5884-E56A-9A8D-ED75F765EEA6}"/>
              </a:ext>
            </a:extLst>
          </p:cNvPr>
          <p:cNvSpPr txBox="1"/>
          <p:nvPr/>
        </p:nvSpPr>
        <p:spPr>
          <a:xfrm>
            <a:off x="926817" y="4381500"/>
            <a:ext cx="6103753" cy="5016758"/>
          </a:xfrm>
          <a:prstGeom prst="rect">
            <a:avLst/>
          </a:prstGeom>
          <a:noFill/>
          <a:ln>
            <a:noFill/>
          </a:ln>
        </p:spPr>
        <p:txBody>
          <a:bodyPr wrap="square" rtlCol="0">
            <a:spAutoFit/>
          </a:bodyPr>
          <a:lstStyle/>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Students</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University Leadership Team</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Student Services Office</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Academic Department</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Finance Department</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Admission Department</a:t>
            </a:r>
          </a:p>
          <a:p>
            <a:pPr marL="285750" indent="-285750">
              <a:buFont typeface="Arial" panose="020B0604020202020204" pitchFamily="34" charset="0"/>
              <a:buChar char="•"/>
            </a:pPr>
            <a:r>
              <a:rPr lang="en-US" sz="3200" dirty="0">
                <a:solidFill>
                  <a:schemeClr val="bg1">
                    <a:lumMod val="95000"/>
                  </a:schemeClr>
                </a:solidFill>
                <a:latin typeface="Open Sauce" panose="020B0604020202020204" charset="0"/>
              </a:rPr>
              <a:t>The IT Department</a:t>
            </a:r>
          </a:p>
          <a:p>
            <a:endParaRPr lang="en-US" sz="3200" dirty="0">
              <a:solidFill>
                <a:schemeClr val="bg1">
                  <a:lumMod val="95000"/>
                </a:schemeClr>
              </a:solidFill>
              <a:latin typeface="Open Sauce" panose="020B0604020202020204" charset="0"/>
            </a:endParaRPr>
          </a:p>
          <a:p>
            <a:endParaRPr lang="en-ZA" sz="3200" dirty="0">
              <a:solidFill>
                <a:schemeClr val="bg1">
                  <a:lumMod val="95000"/>
                </a:schemeClr>
              </a:solidFill>
              <a:latin typeface="Open Sauce" panose="020B0604020202020204" charset="0"/>
            </a:endParaRPr>
          </a:p>
        </p:txBody>
      </p:sp>
      <p:sp>
        <p:nvSpPr>
          <p:cNvPr id="23" name="TextBox 22">
            <a:extLst>
              <a:ext uri="{FF2B5EF4-FFF2-40B4-BE49-F238E27FC236}">
                <a16:creationId xmlns:a16="http://schemas.microsoft.com/office/drawing/2014/main" id="{D57ECC36-FD19-AD9C-9CDA-1BA17E5594A8}"/>
              </a:ext>
            </a:extLst>
          </p:cNvPr>
          <p:cNvSpPr txBox="1"/>
          <p:nvPr/>
        </p:nvSpPr>
        <p:spPr>
          <a:xfrm>
            <a:off x="8262870" y="6828803"/>
            <a:ext cx="3423774" cy="830997"/>
          </a:xfrm>
          <a:prstGeom prst="rect">
            <a:avLst/>
          </a:prstGeom>
          <a:noFill/>
        </p:spPr>
        <p:txBody>
          <a:bodyPr wrap="square" rtlCol="0">
            <a:spAutoFit/>
          </a:bodyPr>
          <a:lstStyle/>
          <a:p>
            <a:r>
              <a:rPr lang="en-US" sz="2400" dirty="0">
                <a:latin typeface="Open Sauce" panose="020B0604020202020204" charset="0"/>
              </a:rPr>
              <a:t>Other stakeholders:</a:t>
            </a:r>
          </a:p>
          <a:p>
            <a:pPr marL="285750" indent="-285750">
              <a:buFont typeface="Arial" panose="020B0604020202020204" pitchFamily="34" charset="0"/>
              <a:buChar char="•"/>
            </a:pPr>
            <a:r>
              <a:rPr lang="en-US" sz="2400" dirty="0">
                <a:latin typeface="Open Sauce" panose="020B0604020202020204" charset="0"/>
              </a:rPr>
              <a:t>Parents/Guardians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1"/>
                                        </p:tgtEl>
                                      </p:cBhvr>
                                    </p:animEffect>
                                    <p:animScale>
                                      <p:cBhvr>
                                        <p:cTn id="7" dur="250" autoRev="1" fill="hold"/>
                                        <p:tgtEl>
                                          <p:spTgt spid="21"/>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2"/>
                                        </p:tgtEl>
                                      </p:cBhvr>
                                    </p:animEffect>
                                    <p:animScale>
                                      <p:cBhvr>
                                        <p:cTn id="10"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a:off x="6744741" y="-1712143"/>
            <a:ext cx="13720908" cy="8881170"/>
          </a:xfrm>
          <a:custGeom>
            <a:avLst/>
            <a:gdLst/>
            <a:ahLst/>
            <a:cxnLst/>
            <a:rect l="l" t="t" r="r" b="b"/>
            <a:pathLst>
              <a:path w="13720908" h="8881170">
                <a:moveTo>
                  <a:pt x="0" y="0"/>
                </a:moveTo>
                <a:lnTo>
                  <a:pt x="13720908" y="0"/>
                </a:lnTo>
                <a:lnTo>
                  <a:pt x="13720908" y="8881170"/>
                </a:lnTo>
                <a:lnTo>
                  <a:pt x="0" y="8881170"/>
                </a:lnTo>
                <a:lnTo>
                  <a:pt x="0" y="0"/>
                </a:lnTo>
                <a:close/>
              </a:path>
            </a:pathLst>
          </a:custGeom>
          <a:blipFill>
            <a:blip r:embed="rId2">
              <a:alphaModFix amt="24000"/>
            </a:blip>
            <a:stretch>
              <a:fillRect/>
            </a:stretch>
          </a:blipFill>
        </p:spPr>
        <p:txBody>
          <a:bodyPr/>
          <a:lstStyle/>
          <a:p>
            <a:endParaRPr lang="en-US"/>
          </a:p>
        </p:txBody>
      </p:sp>
      <p:sp>
        <p:nvSpPr>
          <p:cNvPr id="3" name="Freeform 3"/>
          <p:cNvSpPr/>
          <p:nvPr/>
        </p:nvSpPr>
        <p:spPr>
          <a:xfrm>
            <a:off x="-5966414" y="3338967"/>
            <a:ext cx="13720908" cy="8881170"/>
          </a:xfrm>
          <a:custGeom>
            <a:avLst/>
            <a:gdLst/>
            <a:ahLst/>
            <a:cxnLst/>
            <a:rect l="l" t="t" r="r" b="b"/>
            <a:pathLst>
              <a:path w="13720908" h="8881170">
                <a:moveTo>
                  <a:pt x="0" y="0"/>
                </a:moveTo>
                <a:lnTo>
                  <a:pt x="13720908" y="0"/>
                </a:lnTo>
                <a:lnTo>
                  <a:pt x="13720908" y="8881169"/>
                </a:lnTo>
                <a:lnTo>
                  <a:pt x="0" y="8881169"/>
                </a:lnTo>
                <a:lnTo>
                  <a:pt x="0" y="0"/>
                </a:lnTo>
                <a:close/>
              </a:path>
            </a:pathLst>
          </a:custGeom>
          <a:blipFill>
            <a:blip r:embed="rId2">
              <a:alphaModFix amt="24000"/>
            </a:blip>
            <a:stretch>
              <a:fillRect/>
            </a:stretch>
          </a:blipFill>
        </p:spPr>
        <p:txBody>
          <a:bodyPr/>
          <a:lstStyle/>
          <a:p>
            <a:endParaRPr lang="en-US"/>
          </a:p>
        </p:txBody>
      </p:sp>
      <p:grpSp>
        <p:nvGrpSpPr>
          <p:cNvPr id="4" name="Group 4"/>
          <p:cNvGrpSpPr/>
          <p:nvPr/>
        </p:nvGrpSpPr>
        <p:grpSpPr>
          <a:xfrm>
            <a:off x="894040" y="869138"/>
            <a:ext cx="16495548" cy="8551233"/>
            <a:chOff x="0" y="0"/>
            <a:chExt cx="4344507" cy="2252176"/>
          </a:xfrm>
        </p:grpSpPr>
        <p:sp>
          <p:nvSpPr>
            <p:cNvPr id="5" name="Freeform 5"/>
            <p:cNvSpPr/>
            <p:nvPr/>
          </p:nvSpPr>
          <p:spPr>
            <a:xfrm>
              <a:off x="0" y="0"/>
              <a:ext cx="4344507" cy="2252176"/>
            </a:xfrm>
            <a:custGeom>
              <a:avLst/>
              <a:gdLst/>
              <a:ahLst/>
              <a:cxnLst/>
              <a:rect l="l" t="t" r="r" b="b"/>
              <a:pathLst>
                <a:path w="4344507" h="2252176">
                  <a:moveTo>
                    <a:pt x="43648" y="0"/>
                  </a:moveTo>
                  <a:lnTo>
                    <a:pt x="4300858" y="0"/>
                  </a:lnTo>
                  <a:cubicBezTo>
                    <a:pt x="4312435" y="0"/>
                    <a:pt x="4323537" y="4599"/>
                    <a:pt x="4331722" y="12784"/>
                  </a:cubicBezTo>
                  <a:cubicBezTo>
                    <a:pt x="4339908" y="20970"/>
                    <a:pt x="4344507" y="32072"/>
                    <a:pt x="4344507" y="43648"/>
                  </a:cubicBezTo>
                  <a:lnTo>
                    <a:pt x="4344507" y="2208528"/>
                  </a:lnTo>
                  <a:cubicBezTo>
                    <a:pt x="4344507" y="2232635"/>
                    <a:pt x="4324965" y="2252176"/>
                    <a:pt x="4300858" y="2252176"/>
                  </a:cubicBezTo>
                  <a:lnTo>
                    <a:pt x="43648" y="2252176"/>
                  </a:lnTo>
                  <a:cubicBezTo>
                    <a:pt x="19542" y="2252176"/>
                    <a:pt x="0" y="2232635"/>
                    <a:pt x="0" y="2208528"/>
                  </a:cubicBezTo>
                  <a:lnTo>
                    <a:pt x="0" y="43648"/>
                  </a:lnTo>
                  <a:cubicBezTo>
                    <a:pt x="0" y="19542"/>
                    <a:pt x="19542" y="0"/>
                    <a:pt x="43648" y="0"/>
                  </a:cubicBezTo>
                  <a:close/>
                </a:path>
              </a:pathLst>
            </a:custGeom>
            <a:solidFill>
              <a:srgbClr val="424242"/>
            </a:solidFill>
            <a:ln w="19050" cap="rnd">
              <a:solidFill>
                <a:srgbClr val="D0D7DD"/>
              </a:solidFill>
              <a:prstDash val="solid"/>
              <a:round/>
            </a:ln>
          </p:spPr>
          <p:txBody>
            <a:bodyPr/>
            <a:lstStyle/>
            <a:p>
              <a:endParaRPr lang="en-US"/>
            </a:p>
          </p:txBody>
        </p:sp>
        <p:sp>
          <p:nvSpPr>
            <p:cNvPr id="6" name="TextBox 6"/>
            <p:cNvSpPr txBox="1"/>
            <p:nvPr/>
          </p:nvSpPr>
          <p:spPr>
            <a:xfrm>
              <a:off x="0" y="-28575"/>
              <a:ext cx="4344507" cy="2280751"/>
            </a:xfrm>
            <a:prstGeom prst="rect">
              <a:avLst/>
            </a:prstGeom>
          </p:spPr>
          <p:txBody>
            <a:bodyPr lIns="50800" tIns="50800" rIns="50800" bIns="50800" rtlCol="0" anchor="ctr"/>
            <a:lstStyle/>
            <a:p>
              <a:pPr algn="ctr">
                <a:lnSpc>
                  <a:spcPts val="2015"/>
                </a:lnSpc>
              </a:pPr>
              <a:endParaRPr dirty="0"/>
            </a:p>
          </p:txBody>
        </p:sp>
      </p:grpSp>
      <p:sp>
        <p:nvSpPr>
          <p:cNvPr id="8" name="AutoShape 8"/>
          <p:cNvSpPr/>
          <p:nvPr/>
        </p:nvSpPr>
        <p:spPr>
          <a:xfrm flipV="1">
            <a:off x="1905000" y="2855310"/>
            <a:ext cx="11811000" cy="0"/>
          </a:xfrm>
          <a:prstGeom prst="line">
            <a:avLst/>
          </a:prstGeom>
          <a:ln w="19050" cap="flat">
            <a:solidFill>
              <a:srgbClr val="D0D7DD"/>
            </a:solidFill>
            <a:prstDash val="solid"/>
            <a:headEnd type="none" w="sm" len="sm"/>
            <a:tailEnd type="none" w="sm" len="sm"/>
          </a:ln>
        </p:spPr>
        <p:txBody>
          <a:bodyPr/>
          <a:lstStyle/>
          <a:p>
            <a:endParaRPr lang="en-US"/>
          </a:p>
        </p:txBody>
      </p:sp>
      <p:sp>
        <p:nvSpPr>
          <p:cNvPr id="10" name="TextBox 10"/>
          <p:cNvSpPr txBox="1"/>
          <p:nvPr/>
        </p:nvSpPr>
        <p:spPr>
          <a:xfrm>
            <a:off x="1648404" y="1512059"/>
            <a:ext cx="13720908" cy="1090042"/>
          </a:xfrm>
          <a:prstGeom prst="rect">
            <a:avLst/>
          </a:prstGeom>
        </p:spPr>
        <p:txBody>
          <a:bodyPr wrap="square" lIns="0" tIns="0" rIns="0" bIns="0" rtlCol="0" anchor="t">
            <a:spAutoFit/>
          </a:bodyPr>
          <a:lstStyle/>
          <a:p>
            <a:pPr algn="l">
              <a:lnSpc>
                <a:spcPts val="8460"/>
              </a:lnSpc>
            </a:pPr>
            <a:r>
              <a:rPr lang="en-US" sz="9000" b="1" spc="-422" dirty="0">
                <a:solidFill>
                  <a:srgbClr val="FFFFFF"/>
                </a:solidFill>
                <a:latin typeface="Open Sauce Heavy"/>
                <a:ea typeface="Open Sauce Heavy"/>
                <a:cs typeface="Open Sauce Heavy"/>
                <a:sym typeface="Open Sauce Heavy"/>
              </a:rPr>
              <a:t>Business requirements</a:t>
            </a:r>
          </a:p>
        </p:txBody>
      </p:sp>
      <p:sp>
        <p:nvSpPr>
          <p:cNvPr id="20" name="TextBox 19">
            <a:extLst>
              <a:ext uri="{FF2B5EF4-FFF2-40B4-BE49-F238E27FC236}">
                <a16:creationId xmlns:a16="http://schemas.microsoft.com/office/drawing/2014/main" id="{0FB8ED96-2BC2-9E8D-E680-4FA56561D730}"/>
              </a:ext>
            </a:extLst>
          </p:cNvPr>
          <p:cNvSpPr txBox="1"/>
          <p:nvPr/>
        </p:nvSpPr>
        <p:spPr>
          <a:xfrm>
            <a:off x="1905000" y="3122651"/>
            <a:ext cx="5029200"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There is a single channel/portal for enquiries</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There is real-time visibility of the enquiry placed (acknowledged, assigned, resolved)</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Self-help for common enquiries (FAQs , website)</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Timely and accurate responses</a:t>
            </a:r>
            <a:endParaRPr lang="en-ZA" sz="2000" dirty="0">
              <a:solidFill>
                <a:schemeClr val="tx2">
                  <a:lumMod val="20000"/>
                  <a:lumOff val="80000"/>
                </a:schemeClr>
              </a:solidFill>
              <a:latin typeface="Open Sauce" panose="020B0604020202020204" charset="0"/>
            </a:endParaRPr>
          </a:p>
        </p:txBody>
      </p:sp>
      <p:sp>
        <p:nvSpPr>
          <p:cNvPr id="21" name="TextBox 20">
            <a:extLst>
              <a:ext uri="{FF2B5EF4-FFF2-40B4-BE49-F238E27FC236}">
                <a16:creationId xmlns:a16="http://schemas.microsoft.com/office/drawing/2014/main" id="{78B743DB-731A-AE8E-01F9-10D13EB45410}"/>
              </a:ext>
            </a:extLst>
          </p:cNvPr>
          <p:cNvSpPr txBox="1"/>
          <p:nvPr/>
        </p:nvSpPr>
        <p:spPr>
          <a:xfrm>
            <a:off x="1905000" y="6398896"/>
            <a:ext cx="502920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 single channel directs workflow to departmental workbaskets </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System categorization (departments, topics) o enable accurate enquiry routing and prioritizing</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Automated enquiry processes (no more forwarding and manual enquiry tracking)</a:t>
            </a:r>
          </a:p>
        </p:txBody>
      </p:sp>
      <p:sp>
        <p:nvSpPr>
          <p:cNvPr id="22" name="TextBox 21">
            <a:extLst>
              <a:ext uri="{FF2B5EF4-FFF2-40B4-BE49-F238E27FC236}">
                <a16:creationId xmlns:a16="http://schemas.microsoft.com/office/drawing/2014/main" id="{6CA15FF9-5B9D-B62E-0A55-32AEF16A6617}"/>
              </a:ext>
            </a:extLst>
          </p:cNvPr>
          <p:cNvSpPr txBox="1"/>
          <p:nvPr/>
        </p:nvSpPr>
        <p:spPr>
          <a:xfrm>
            <a:off x="9141814" y="2965059"/>
            <a:ext cx="502920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 centralization of system information to better manage the university information (kept updated)</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 system enables enquiry KPIs that help monitor and manage response time, response accuracy (is it helping), enquiry volume, visibility of bottlenecks and problem points affecting student satisfaction</a:t>
            </a:r>
          </a:p>
        </p:txBody>
      </p:sp>
      <p:sp>
        <p:nvSpPr>
          <p:cNvPr id="23" name="TextBox 22">
            <a:extLst>
              <a:ext uri="{FF2B5EF4-FFF2-40B4-BE49-F238E27FC236}">
                <a16:creationId xmlns:a16="http://schemas.microsoft.com/office/drawing/2014/main" id="{6213014E-CF1D-5EDD-94AB-0102ED40AE0F}"/>
              </a:ext>
            </a:extLst>
          </p:cNvPr>
          <p:cNvSpPr txBox="1"/>
          <p:nvPr/>
        </p:nvSpPr>
        <p:spPr>
          <a:xfrm>
            <a:off x="9141814" y="6260396"/>
            <a:ext cx="502920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 centralized system has t be integrated with existing systems and the technological infrastructure. (made available in the student portal)</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Scalable for larger volume enquiries during peak periods</a:t>
            </a:r>
          </a:p>
          <a:p>
            <a:pPr marL="285750" indent="-285750">
              <a:buFont typeface="Arial" panose="020B0604020202020204" pitchFamily="34" charset="0"/>
              <a:buChar char="•"/>
            </a:pPr>
            <a:r>
              <a:rPr lang="en-US" sz="2000" dirty="0">
                <a:solidFill>
                  <a:schemeClr val="tx2">
                    <a:lumMod val="20000"/>
                    <a:lumOff val="80000"/>
                  </a:schemeClr>
                </a:solidFill>
                <a:latin typeface="Open Sauce" panose="020B0604020202020204" charset="0"/>
              </a:rPr>
              <a:t>The solution has to align with existing IT regulations, storage, security,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21" grpId="0"/>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3">
              <a:alphaModFix amt="20999"/>
            </a:blip>
            <a:stretch>
              <a:fillRect/>
            </a:stretch>
          </a:blipFill>
        </p:spPr>
        <p:txBody>
          <a:bodyPr/>
          <a:lstStyle/>
          <a:p>
            <a:endParaRPr lang="en-US"/>
          </a:p>
        </p:txBody>
      </p:sp>
      <p:grpSp>
        <p:nvGrpSpPr>
          <p:cNvPr id="3" name="Group 3"/>
          <p:cNvGrpSpPr/>
          <p:nvPr/>
        </p:nvGrpSpPr>
        <p:grpSpPr>
          <a:xfrm>
            <a:off x="9174433" y="2169605"/>
            <a:ext cx="8925776" cy="7304025"/>
            <a:chOff x="0" y="0"/>
            <a:chExt cx="2109992" cy="1578464"/>
          </a:xfrm>
        </p:grpSpPr>
        <p:sp>
          <p:nvSpPr>
            <p:cNvPr id="4" name="Freeform 4"/>
            <p:cNvSpPr/>
            <p:nvPr/>
          </p:nvSpPr>
          <p:spPr>
            <a:xfrm>
              <a:off x="0" y="0"/>
              <a:ext cx="2109992" cy="1578464"/>
            </a:xfrm>
            <a:custGeom>
              <a:avLst/>
              <a:gdLst/>
              <a:ahLst/>
              <a:cxnLst/>
              <a:rect l="l" t="t" r="r" b="b"/>
              <a:pathLst>
                <a:path w="2109992" h="1578464">
                  <a:moveTo>
                    <a:pt x="77309" y="0"/>
                  </a:moveTo>
                  <a:lnTo>
                    <a:pt x="2032683" y="0"/>
                  </a:lnTo>
                  <a:cubicBezTo>
                    <a:pt x="2053186" y="0"/>
                    <a:pt x="2072850" y="8145"/>
                    <a:pt x="2087349" y="22643"/>
                  </a:cubicBezTo>
                  <a:cubicBezTo>
                    <a:pt x="2101847" y="37142"/>
                    <a:pt x="2109992" y="56806"/>
                    <a:pt x="2109992" y="77309"/>
                  </a:cubicBezTo>
                  <a:lnTo>
                    <a:pt x="2109992" y="1501155"/>
                  </a:lnTo>
                  <a:cubicBezTo>
                    <a:pt x="2109992" y="1521659"/>
                    <a:pt x="2101847" y="1541322"/>
                    <a:pt x="2087349" y="1555821"/>
                  </a:cubicBezTo>
                  <a:cubicBezTo>
                    <a:pt x="2072850" y="1570319"/>
                    <a:pt x="2053186" y="1578464"/>
                    <a:pt x="2032683" y="1578464"/>
                  </a:cubicBezTo>
                  <a:lnTo>
                    <a:pt x="77309" y="1578464"/>
                  </a:lnTo>
                  <a:cubicBezTo>
                    <a:pt x="56806" y="1578464"/>
                    <a:pt x="37142" y="1570319"/>
                    <a:pt x="22643" y="1555821"/>
                  </a:cubicBezTo>
                  <a:cubicBezTo>
                    <a:pt x="8145" y="1541322"/>
                    <a:pt x="0" y="1521659"/>
                    <a:pt x="0" y="1501155"/>
                  </a:cubicBezTo>
                  <a:lnTo>
                    <a:pt x="0" y="77309"/>
                  </a:lnTo>
                  <a:cubicBezTo>
                    <a:pt x="0" y="56806"/>
                    <a:pt x="8145" y="37142"/>
                    <a:pt x="22643" y="22643"/>
                  </a:cubicBezTo>
                  <a:cubicBezTo>
                    <a:pt x="37142" y="8145"/>
                    <a:pt x="56806" y="0"/>
                    <a:pt x="77309" y="0"/>
                  </a:cubicBezTo>
                  <a:close/>
                </a:path>
              </a:pathLst>
            </a:custGeom>
            <a:solidFill>
              <a:srgbClr val="424242"/>
            </a:solidFill>
            <a:ln w="19050" cap="rnd">
              <a:solidFill>
                <a:srgbClr val="D0D7DD"/>
              </a:solidFill>
              <a:prstDash val="solid"/>
              <a:round/>
            </a:ln>
          </p:spPr>
          <p:txBody>
            <a:bodyPr/>
            <a:lstStyle/>
            <a:p>
              <a:endParaRPr lang="en-US"/>
            </a:p>
          </p:txBody>
        </p:sp>
        <p:sp>
          <p:nvSpPr>
            <p:cNvPr id="5" name="TextBox 5"/>
            <p:cNvSpPr txBox="1"/>
            <p:nvPr/>
          </p:nvSpPr>
          <p:spPr>
            <a:xfrm>
              <a:off x="0" y="-28575"/>
              <a:ext cx="2109992" cy="1607039"/>
            </a:xfrm>
            <a:prstGeom prst="rect">
              <a:avLst/>
            </a:prstGeom>
          </p:spPr>
          <p:txBody>
            <a:bodyPr lIns="50800" tIns="50800" rIns="50800" bIns="50800" rtlCol="0" anchor="ctr"/>
            <a:lstStyle/>
            <a:p>
              <a:pPr algn="ctr">
                <a:lnSpc>
                  <a:spcPts val="2015"/>
                </a:lnSpc>
              </a:pPr>
              <a:endParaRPr dirty="0"/>
            </a:p>
          </p:txBody>
        </p:sp>
      </p:grpSp>
      <p:sp>
        <p:nvSpPr>
          <p:cNvPr id="6" name="TextBox 6"/>
          <p:cNvSpPr txBox="1"/>
          <p:nvPr/>
        </p:nvSpPr>
        <p:spPr>
          <a:xfrm>
            <a:off x="2071577" y="-9578"/>
            <a:ext cx="16230600" cy="1318374"/>
          </a:xfrm>
          <a:prstGeom prst="rect">
            <a:avLst/>
          </a:prstGeom>
        </p:spPr>
        <p:txBody>
          <a:bodyPr lIns="0" tIns="0" rIns="0" bIns="0" rtlCol="0" anchor="t">
            <a:spAutoFit/>
          </a:bodyPr>
          <a:lstStyle/>
          <a:p>
            <a:pPr algn="ctr">
              <a:lnSpc>
                <a:spcPts val="11468"/>
              </a:lnSpc>
            </a:pPr>
            <a:r>
              <a:rPr lang="en-US" sz="7200" b="1" spc="-573" dirty="0">
                <a:solidFill>
                  <a:srgbClr val="FFFFFF"/>
                </a:solidFill>
                <a:latin typeface="Open Sauce Heavy"/>
                <a:ea typeface="Open Sauce Heavy"/>
                <a:cs typeface="Open Sauce Heavy"/>
                <a:sym typeface="Open Sauce Heavy"/>
              </a:rPr>
              <a:t>Improvement opportunity</a:t>
            </a:r>
          </a:p>
        </p:txBody>
      </p:sp>
      <p:sp>
        <p:nvSpPr>
          <p:cNvPr id="7" name="TextBox 7"/>
          <p:cNvSpPr txBox="1"/>
          <p:nvPr/>
        </p:nvSpPr>
        <p:spPr>
          <a:xfrm>
            <a:off x="538168" y="2077320"/>
            <a:ext cx="8170205" cy="940642"/>
          </a:xfrm>
          <a:prstGeom prst="rect">
            <a:avLst/>
          </a:prstGeom>
        </p:spPr>
        <p:txBody>
          <a:bodyPr wrap="square" lIns="0" tIns="0" rIns="0" bIns="0" rtlCol="0" anchor="t">
            <a:spAutoFit/>
          </a:bodyPr>
          <a:lstStyle/>
          <a:p>
            <a:pPr algn="l">
              <a:lnSpc>
                <a:spcPts val="2520"/>
              </a:lnSpc>
            </a:pPr>
            <a:r>
              <a:rPr lang="en-US" sz="2000" b="1" spc="-84" dirty="0">
                <a:solidFill>
                  <a:schemeClr val="tx2">
                    <a:lumMod val="40000"/>
                    <a:lumOff val="60000"/>
                  </a:schemeClr>
                </a:solidFill>
                <a:latin typeface="Open Sauce" panose="020B0604020202020204" charset="0"/>
                <a:ea typeface="Open Sauce Light"/>
                <a:cs typeface="Open Sauce Light"/>
                <a:sym typeface="Open Sauce Light"/>
              </a:rPr>
              <a:t>A centralized student enquiry management system </a:t>
            </a:r>
            <a:r>
              <a:rPr lang="en-US" sz="2000" b="1" spc="-84" dirty="0">
                <a:solidFill>
                  <a:srgbClr val="FFFFFF"/>
                </a:solidFill>
                <a:latin typeface="Open Sauce" panose="020B0604020202020204" charset="0"/>
                <a:ea typeface="Open Sauce Light"/>
                <a:cs typeface="Open Sauce Light"/>
                <a:sym typeface="Open Sauce Light"/>
              </a:rPr>
              <a:t>that provides students with a portal to submit enquiries and provides the university with a structured way of managing student enquiries.</a:t>
            </a:r>
          </a:p>
        </p:txBody>
      </p:sp>
      <p:sp>
        <p:nvSpPr>
          <p:cNvPr id="13" name="TextBox 6">
            <a:extLst>
              <a:ext uri="{FF2B5EF4-FFF2-40B4-BE49-F238E27FC236}">
                <a16:creationId xmlns:a16="http://schemas.microsoft.com/office/drawing/2014/main" id="{7C6CF336-93EF-E62C-EFEB-B48AD6687789}"/>
              </a:ext>
            </a:extLst>
          </p:cNvPr>
          <p:cNvSpPr txBox="1"/>
          <p:nvPr/>
        </p:nvSpPr>
        <p:spPr>
          <a:xfrm>
            <a:off x="11425044" y="1799872"/>
            <a:ext cx="4424556" cy="1212191"/>
          </a:xfrm>
          <a:prstGeom prst="rect">
            <a:avLst/>
          </a:prstGeom>
        </p:spPr>
        <p:txBody>
          <a:bodyPr wrap="square" lIns="0" tIns="0" rIns="0" bIns="0" rtlCol="0" anchor="t">
            <a:spAutoFit/>
          </a:bodyPr>
          <a:lstStyle/>
          <a:p>
            <a:pPr algn="ctr">
              <a:lnSpc>
                <a:spcPts val="11468"/>
              </a:lnSpc>
            </a:pPr>
            <a:r>
              <a:rPr lang="en-US" sz="3600" b="1" spc="-573" dirty="0">
                <a:solidFill>
                  <a:srgbClr val="FFFFFF"/>
                </a:solidFill>
                <a:latin typeface="Open Sauce Heavy"/>
                <a:ea typeface="Open Sauce Heavy"/>
                <a:cs typeface="Open Sauce Heavy"/>
                <a:sym typeface="Open Sauce Heavy"/>
              </a:rPr>
              <a:t>Rich  picture</a:t>
            </a:r>
          </a:p>
        </p:txBody>
      </p:sp>
      <p:pic>
        <p:nvPicPr>
          <p:cNvPr id="17" name="Picture 16">
            <a:extLst>
              <a:ext uri="{FF2B5EF4-FFF2-40B4-BE49-F238E27FC236}">
                <a16:creationId xmlns:a16="http://schemas.microsoft.com/office/drawing/2014/main" id="{C13BCF91-C436-953F-846C-B1FEC1DCC3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40494" y="3187585"/>
            <a:ext cx="7993655" cy="5995242"/>
          </a:xfrm>
          <a:prstGeom prst="rect">
            <a:avLst/>
          </a:prstGeom>
        </p:spPr>
      </p:pic>
      <p:sp>
        <p:nvSpPr>
          <p:cNvPr id="18" name="TextBox 17">
            <a:extLst>
              <a:ext uri="{FF2B5EF4-FFF2-40B4-BE49-F238E27FC236}">
                <a16:creationId xmlns:a16="http://schemas.microsoft.com/office/drawing/2014/main" id="{EDA8E8E9-2797-BAF8-BA5D-B1A916DC4FB3}"/>
              </a:ext>
            </a:extLst>
          </p:cNvPr>
          <p:cNvSpPr txBox="1"/>
          <p:nvPr/>
        </p:nvSpPr>
        <p:spPr>
          <a:xfrm>
            <a:off x="477337" y="3649158"/>
            <a:ext cx="8170205" cy="5170646"/>
          </a:xfrm>
          <a:prstGeom prst="rect">
            <a:avLst/>
          </a:prstGeom>
          <a:noFill/>
        </p:spPr>
        <p:txBody>
          <a:bodyPr wrap="square" rtlCol="0">
            <a:spAutoFit/>
          </a:bodyPr>
          <a:lstStyle/>
          <a:p>
            <a:r>
              <a:rPr lang="en-US" sz="2200" dirty="0">
                <a:solidFill>
                  <a:schemeClr val="accent1">
                    <a:lumMod val="20000"/>
                    <a:lumOff val="80000"/>
                  </a:schemeClr>
                </a:solidFill>
                <a:latin typeface="Open Sauce Light" panose="020B0604020202020204" charset="0"/>
              </a:rPr>
              <a:t>The student selects the category for their enquiry, and the system adds the enquiry ticket the respective workbasket of that department. Should the information required by the student already exist elsewhere, the student will be redirected accordingly (FAQ/University website). The system enables monitoring of tickets or open queries running a long time or regarding registration during peak periods to place importance on them. The enquiry can be tracked on the system by the student (acknowledged, resolved etc.)  The multiple channels are reduced to one. The information provided is centralized and becomes one source of truth. The work flow of managing  student enquiries is standardized and more manageable for the different departments. Students will be better assisted and speedily so. </a:t>
            </a:r>
            <a:endParaRPr lang="en-ZA" sz="2200" dirty="0">
              <a:solidFill>
                <a:schemeClr val="accent1">
                  <a:lumMod val="20000"/>
                  <a:lumOff val="80000"/>
                </a:schemeClr>
              </a:solidFill>
              <a:latin typeface="Open Sauce Light"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1177090" y="2231409"/>
            <a:ext cx="16714740" cy="10818995"/>
          </a:xfrm>
          <a:custGeom>
            <a:avLst/>
            <a:gdLst/>
            <a:ahLst/>
            <a:cxnLst/>
            <a:rect l="l" t="t" r="r" b="b"/>
            <a:pathLst>
              <a:path w="16714740" h="10818995">
                <a:moveTo>
                  <a:pt x="0" y="0"/>
                </a:moveTo>
                <a:lnTo>
                  <a:pt x="16714740" y="0"/>
                </a:lnTo>
                <a:lnTo>
                  <a:pt x="16714740" y="10818995"/>
                </a:lnTo>
                <a:lnTo>
                  <a:pt x="0" y="10818995"/>
                </a:lnTo>
                <a:lnTo>
                  <a:pt x="0" y="0"/>
                </a:lnTo>
                <a:close/>
              </a:path>
            </a:pathLst>
          </a:custGeom>
          <a:blipFill>
            <a:blip r:embed="rId2">
              <a:alphaModFix amt="24000"/>
            </a:blip>
            <a:stretch>
              <a:fillRect/>
            </a:stretch>
          </a:blipFill>
        </p:spPr>
        <p:txBody>
          <a:bodyPr/>
          <a:lstStyle/>
          <a:p>
            <a:endParaRPr lang="en-US"/>
          </a:p>
        </p:txBody>
      </p:sp>
      <p:sp>
        <p:nvSpPr>
          <p:cNvPr id="3" name="TextBox 3"/>
          <p:cNvSpPr txBox="1"/>
          <p:nvPr/>
        </p:nvSpPr>
        <p:spPr>
          <a:xfrm>
            <a:off x="5410200" y="257984"/>
            <a:ext cx="16230600" cy="1320874"/>
          </a:xfrm>
          <a:prstGeom prst="rect">
            <a:avLst/>
          </a:prstGeom>
        </p:spPr>
        <p:txBody>
          <a:bodyPr lIns="0" tIns="0" rIns="0" bIns="0" rtlCol="0" anchor="t">
            <a:spAutoFit/>
          </a:bodyPr>
          <a:lstStyle/>
          <a:p>
            <a:pPr algn="l">
              <a:lnSpc>
                <a:spcPts val="10307"/>
              </a:lnSpc>
            </a:pPr>
            <a:r>
              <a:rPr lang="en-US" sz="8800" b="1" spc="-515" dirty="0">
                <a:solidFill>
                  <a:srgbClr val="424242"/>
                </a:solidFill>
                <a:latin typeface="Open Sauce Heavy"/>
                <a:ea typeface="Open Sauce Heavy"/>
                <a:cs typeface="Open Sauce Heavy"/>
                <a:sym typeface="Open Sauce Heavy"/>
              </a:rPr>
              <a:t>The Benefits:</a:t>
            </a:r>
          </a:p>
        </p:txBody>
      </p:sp>
      <p:graphicFrame>
        <p:nvGraphicFramePr>
          <p:cNvPr id="43" name="Table 42">
            <a:extLst>
              <a:ext uri="{FF2B5EF4-FFF2-40B4-BE49-F238E27FC236}">
                <a16:creationId xmlns:a16="http://schemas.microsoft.com/office/drawing/2014/main" id="{112A41B6-C374-A478-5F36-B062901BF201}"/>
              </a:ext>
            </a:extLst>
          </p:cNvPr>
          <p:cNvGraphicFramePr>
            <a:graphicFrameLocks noGrp="1"/>
          </p:cNvGraphicFramePr>
          <p:nvPr>
            <p:extLst>
              <p:ext uri="{D42A27DB-BD31-4B8C-83A1-F6EECF244321}">
                <p14:modId xmlns:p14="http://schemas.microsoft.com/office/powerpoint/2010/main" val="3442347060"/>
              </p:ext>
            </p:extLst>
          </p:nvPr>
        </p:nvGraphicFramePr>
        <p:xfrm>
          <a:off x="780920" y="2044706"/>
          <a:ext cx="16714740" cy="8095156"/>
        </p:xfrm>
        <a:graphic>
          <a:graphicData uri="http://schemas.openxmlformats.org/drawingml/2006/table">
            <a:tbl>
              <a:tblPr firstRow="1" bandRow="1">
                <a:tableStyleId>{C083E6E3-FA7D-4D7B-A595-EF9225AFEA82}</a:tableStyleId>
              </a:tblPr>
              <a:tblGrid>
                <a:gridCol w="5571580">
                  <a:extLst>
                    <a:ext uri="{9D8B030D-6E8A-4147-A177-3AD203B41FA5}">
                      <a16:colId xmlns:a16="http://schemas.microsoft.com/office/drawing/2014/main" val="3487970083"/>
                    </a:ext>
                  </a:extLst>
                </a:gridCol>
                <a:gridCol w="5571580">
                  <a:extLst>
                    <a:ext uri="{9D8B030D-6E8A-4147-A177-3AD203B41FA5}">
                      <a16:colId xmlns:a16="http://schemas.microsoft.com/office/drawing/2014/main" val="628181110"/>
                    </a:ext>
                  </a:extLst>
                </a:gridCol>
                <a:gridCol w="5571580">
                  <a:extLst>
                    <a:ext uri="{9D8B030D-6E8A-4147-A177-3AD203B41FA5}">
                      <a16:colId xmlns:a16="http://schemas.microsoft.com/office/drawing/2014/main" val="4223000109"/>
                    </a:ext>
                  </a:extLst>
                </a:gridCol>
              </a:tblGrid>
              <a:tr h="688516">
                <a:tc>
                  <a:txBody>
                    <a:bodyPr/>
                    <a:lstStyle/>
                    <a:p>
                      <a:r>
                        <a:rPr lang="en-US" dirty="0">
                          <a:latin typeface="Open Sauce" panose="020B0604020202020204" charset="0"/>
                        </a:rPr>
                        <a:t>AS-IS</a:t>
                      </a:r>
                      <a:endParaRPr lang="en-ZA" dirty="0">
                        <a:latin typeface="Open Sauce" panose="020B0604020202020204" charset="0"/>
                      </a:endParaRPr>
                    </a:p>
                  </a:txBody>
                  <a:tcPr/>
                </a:tc>
                <a:tc>
                  <a:txBody>
                    <a:bodyPr/>
                    <a:lstStyle/>
                    <a:p>
                      <a:r>
                        <a:rPr lang="en-US" dirty="0">
                          <a:latin typeface="Open Sauce" panose="020B0604020202020204" charset="0"/>
                        </a:rPr>
                        <a:t>TO-BE</a:t>
                      </a:r>
                      <a:endParaRPr lang="en-ZA" dirty="0">
                        <a:latin typeface="Open Sauce" panose="020B0604020202020204" charset="0"/>
                      </a:endParaRPr>
                    </a:p>
                  </a:txBody>
                  <a:tcPr/>
                </a:tc>
                <a:tc>
                  <a:txBody>
                    <a:bodyPr/>
                    <a:lstStyle/>
                    <a:p>
                      <a:r>
                        <a:rPr lang="en-US" dirty="0">
                          <a:latin typeface="Open Sauce" panose="020B0604020202020204" charset="0"/>
                        </a:rPr>
                        <a:t>BENEFIT</a:t>
                      </a:r>
                      <a:endParaRPr lang="en-ZA" dirty="0">
                        <a:latin typeface="Open Sauce" panose="020B0604020202020204" charset="0"/>
                      </a:endParaRPr>
                    </a:p>
                  </a:txBody>
                  <a:tcPr/>
                </a:tc>
                <a:extLst>
                  <a:ext uri="{0D108BD9-81ED-4DB2-BD59-A6C34878D82A}">
                    <a16:rowId xmlns:a16="http://schemas.microsoft.com/office/drawing/2014/main" val="2306938008"/>
                  </a:ext>
                </a:extLst>
              </a:tr>
              <a:tr h="5804974">
                <a:tc>
                  <a:txBody>
                    <a:bodyPr/>
                    <a:lstStyle/>
                    <a:p>
                      <a:r>
                        <a:rPr lang="en-US" sz="2000" dirty="0">
                          <a:latin typeface="Open Sauce Light" panose="020B0604020202020204" charset="0"/>
                        </a:rPr>
                        <a:t>There are multiple channels with high enquiry volume (redundant enquiries possible) </a:t>
                      </a:r>
                    </a:p>
                    <a:p>
                      <a:r>
                        <a:rPr lang="en-US" sz="2000" dirty="0">
                          <a:latin typeface="Open Sauce Light" panose="020B0604020202020204" charset="0"/>
                        </a:rPr>
                        <a:t>There are different methods across departments for handling enquiries</a:t>
                      </a:r>
                    </a:p>
                    <a:p>
                      <a:r>
                        <a:rPr lang="en-ZA" sz="2000" dirty="0">
                          <a:latin typeface="Open Sauce Light" panose="020B0604020202020204" charset="0"/>
                        </a:rPr>
                        <a:t>It takes a long time to get a response</a:t>
                      </a:r>
                    </a:p>
                    <a:p>
                      <a:r>
                        <a:rPr lang="en-ZA" sz="2000" dirty="0">
                          <a:latin typeface="Open Sauce Light" panose="020B0604020202020204" charset="0"/>
                        </a:rPr>
                        <a:t>Enquiries are forwarded and may cause multiple inconsistent responses</a:t>
                      </a:r>
                    </a:p>
                    <a:p>
                      <a:r>
                        <a:rPr lang="en-ZA" sz="2000" dirty="0">
                          <a:latin typeface="Open Sauce Light" panose="020B0604020202020204" charset="0"/>
                        </a:rPr>
                        <a:t>The university leadership doesn’t have a way of enforcing or improving student satisfaction and making sure they are helped.</a:t>
                      </a:r>
                    </a:p>
                    <a:p>
                      <a:r>
                        <a:rPr lang="en-ZA" sz="2000" dirty="0">
                          <a:latin typeface="Open Sauce Light" panose="020B0604020202020204" charset="0"/>
                        </a:rPr>
                        <a:t>Student have to follow up, they can’t see the progress on their enquiries</a:t>
                      </a:r>
                    </a:p>
                    <a:p>
                      <a:r>
                        <a:rPr lang="en-ZA" sz="2000" dirty="0">
                          <a:latin typeface="Open Sauce Light" panose="020B0604020202020204" charset="0"/>
                        </a:rPr>
                        <a:t>There is an inability to track or prioritize enquiries received</a:t>
                      </a:r>
                    </a:p>
                    <a:p>
                      <a:r>
                        <a:rPr lang="en-ZA" sz="2000" dirty="0">
                          <a:latin typeface="Open Sauce Light" panose="020B0604020202020204" charset="0"/>
                        </a:rPr>
                        <a:t>There is operational pressure during peak periods</a:t>
                      </a:r>
                      <a:endParaRPr lang="en-US" sz="2000" dirty="0">
                        <a:latin typeface="Open Sauce Light" panose="020B0604020202020204" charset="0"/>
                      </a:endParaRPr>
                    </a:p>
                  </a:txBody>
                  <a:tcPr/>
                </a:tc>
                <a:tc>
                  <a:txBody>
                    <a:bodyPr/>
                    <a:lstStyle/>
                    <a:p>
                      <a:r>
                        <a:rPr lang="en-US" sz="2000" dirty="0">
                          <a:latin typeface="Open Sauce Light" panose="020B0604020202020204" charset="0"/>
                        </a:rPr>
                        <a:t>There is one channel (the student enquiry management system) </a:t>
                      </a:r>
                    </a:p>
                    <a:p>
                      <a:r>
                        <a:rPr lang="en-US" sz="2000" dirty="0">
                          <a:latin typeface="Open Sauce Light" panose="020B0604020202020204" charset="0"/>
                        </a:rPr>
                        <a:t>Common enquiries are quickly directed (FAQ/ the university website) with existing information readily available</a:t>
                      </a:r>
                    </a:p>
                    <a:p>
                      <a:r>
                        <a:rPr lang="en-US" sz="2000" dirty="0">
                          <a:latin typeface="Open Sauce Light" panose="020B0604020202020204" charset="0"/>
                        </a:rPr>
                        <a:t>Ticketing system standard across all departments whereby the enquiry is assigned to each department and prioritized with urgency based on the enquiry or the peak period (registration, student fee deadlines etc.)</a:t>
                      </a:r>
                    </a:p>
                    <a:p>
                      <a:r>
                        <a:rPr lang="en-US" sz="2000" dirty="0">
                          <a:latin typeface="Open Sauce Light" panose="020B0604020202020204" charset="0"/>
                        </a:rPr>
                        <a:t>Standards applied through new policies regulating the system (e.g. Average time for an enquiry to be responded to, how ‘uncategorized’ enquiries are directed, responsibilities of the system, technical specifications etc.)</a:t>
                      </a:r>
                    </a:p>
                    <a:p>
                      <a:r>
                        <a:rPr lang="en-US" sz="2000" dirty="0">
                          <a:latin typeface="Open Sauce Light" panose="020B0604020202020204" charset="0"/>
                        </a:rPr>
                        <a:t>There is transparency of enquiries, response times, volume across all departments for leadership and the departments to have oversight. There wont be any lost or forgotten enquiries.</a:t>
                      </a:r>
                      <a:endParaRPr lang="en-ZA" sz="2000" dirty="0">
                        <a:latin typeface="Open Sauce Light" panose="020B0604020202020204" charset="0"/>
                      </a:endParaRPr>
                    </a:p>
                  </a:txBody>
                  <a:tcPr/>
                </a:tc>
                <a:tc>
                  <a:txBody>
                    <a:bodyPr/>
                    <a:lstStyle/>
                    <a:p>
                      <a:r>
                        <a:rPr lang="en-US" sz="2000" b="1" dirty="0">
                          <a:highlight>
                            <a:srgbClr val="00FFFF"/>
                          </a:highlight>
                          <a:latin typeface="Open Sauce Light" panose="020B0604020202020204" charset="0"/>
                        </a:rPr>
                        <a:t>Accuracy</a:t>
                      </a:r>
                      <a:r>
                        <a:rPr lang="en-US" sz="2000" dirty="0">
                          <a:latin typeface="Open Sauce Light" panose="020B0604020202020204" charset="0"/>
                        </a:rPr>
                        <a:t> – one source of information/single knowledge base, no more inconsistent replied, no having to contact multiple departments</a:t>
                      </a:r>
                    </a:p>
                    <a:p>
                      <a:r>
                        <a:rPr lang="en-US" sz="2000" b="1" dirty="0">
                          <a:highlight>
                            <a:srgbClr val="00FFFF"/>
                          </a:highlight>
                          <a:latin typeface="Open Sauce Light" panose="020B0604020202020204" charset="0"/>
                        </a:rPr>
                        <a:t>Efficiency</a:t>
                      </a:r>
                      <a:r>
                        <a:rPr lang="en-US" sz="2000" dirty="0">
                          <a:latin typeface="Open Sauce Light" panose="020B0604020202020204" charset="0"/>
                        </a:rPr>
                        <a:t> – faster responses because of immediate redirection of common enquiries and direct department workbaskets, prioritization logic based on urgency, response time KPI enforced. </a:t>
                      </a:r>
                    </a:p>
                    <a:p>
                      <a:r>
                        <a:rPr lang="en-US" sz="2000" b="1" dirty="0">
                          <a:highlight>
                            <a:srgbClr val="00FFFF"/>
                          </a:highlight>
                          <a:latin typeface="Open Sauce Light" panose="020B0604020202020204" charset="0"/>
                        </a:rPr>
                        <a:t>Reliability</a:t>
                      </a:r>
                      <a:r>
                        <a:rPr lang="en-US" sz="2000" dirty="0">
                          <a:latin typeface="Open Sauce Light" panose="020B0604020202020204" charset="0"/>
                        </a:rPr>
                        <a:t> - Reduced manual work, becomes system driven</a:t>
                      </a:r>
                    </a:p>
                    <a:p>
                      <a:r>
                        <a:rPr lang="en-US" sz="2000" dirty="0">
                          <a:latin typeface="Open Sauce Light" panose="020B0604020202020204" charset="0"/>
                        </a:rPr>
                        <a:t>There is more </a:t>
                      </a:r>
                      <a:r>
                        <a:rPr lang="en-US" sz="2000" b="1" dirty="0">
                          <a:highlight>
                            <a:srgbClr val="00FFFF"/>
                          </a:highlight>
                          <a:latin typeface="Open Sauce Light" panose="020B0604020202020204" charset="0"/>
                        </a:rPr>
                        <a:t>transparency and visibility </a:t>
                      </a:r>
                      <a:r>
                        <a:rPr lang="en-US" sz="2000" dirty="0">
                          <a:latin typeface="Open Sauce Light" panose="020B0604020202020204" charset="0"/>
                        </a:rPr>
                        <a:t>for the student on their enquiry (the system indicates and notifies the student when their ticket is submitted, received by the department, and resolved). </a:t>
                      </a:r>
                    </a:p>
                    <a:p>
                      <a:r>
                        <a:rPr lang="en-US" sz="2000" dirty="0">
                          <a:latin typeface="Open Sauce Light" panose="020B0604020202020204" charset="0"/>
                        </a:rPr>
                        <a:t>The departments </a:t>
                      </a:r>
                      <a:r>
                        <a:rPr lang="en-US" sz="2000" b="1" dirty="0">
                          <a:highlight>
                            <a:srgbClr val="00FFFF"/>
                          </a:highlight>
                          <a:latin typeface="Open Sauce Light" panose="020B0604020202020204" charset="0"/>
                        </a:rPr>
                        <a:t>can capture, track and manage enquiries</a:t>
                      </a:r>
                    </a:p>
                    <a:p>
                      <a:r>
                        <a:rPr lang="en-US" sz="2000" b="1" dirty="0">
                          <a:highlight>
                            <a:srgbClr val="00FFFF"/>
                          </a:highlight>
                          <a:latin typeface="Open Sauce Light" panose="020B0604020202020204" charset="0"/>
                        </a:rPr>
                        <a:t>Reduced operational pressure</a:t>
                      </a:r>
                    </a:p>
                    <a:p>
                      <a:r>
                        <a:rPr lang="en-US" sz="2000" b="1" dirty="0">
                          <a:highlight>
                            <a:srgbClr val="00FFFF"/>
                          </a:highlight>
                          <a:latin typeface="Open Sauce Light" panose="020B0604020202020204" charset="0"/>
                        </a:rPr>
                        <a:t>Student experience improvement </a:t>
                      </a:r>
                      <a:r>
                        <a:rPr lang="en-US" sz="2000" b="1" dirty="0">
                          <a:latin typeface="Open Sauce Light" panose="020B0604020202020204" charset="0"/>
                        </a:rPr>
                        <a:t>– less follow ups, faster response, accurate information</a:t>
                      </a:r>
                    </a:p>
                    <a:p>
                      <a:endParaRPr lang="en-US" sz="2000" b="1" dirty="0">
                        <a:latin typeface="Open Sauce Light" panose="020B0604020202020204" charset="0"/>
                      </a:endParaRPr>
                    </a:p>
                    <a:p>
                      <a:endParaRPr lang="en-ZA" sz="2000" dirty="0">
                        <a:latin typeface="Open Sauce Light" panose="020B0604020202020204" charset="0"/>
                      </a:endParaRPr>
                    </a:p>
                  </a:txBody>
                  <a:tcPr/>
                </a:tc>
                <a:extLst>
                  <a:ext uri="{0D108BD9-81ED-4DB2-BD59-A6C34878D82A}">
                    <a16:rowId xmlns:a16="http://schemas.microsoft.com/office/drawing/2014/main" val="396871489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1444323" y="4944233"/>
            <a:ext cx="12249089" cy="7928501"/>
          </a:xfrm>
          <a:custGeom>
            <a:avLst/>
            <a:gdLst/>
            <a:ahLst/>
            <a:cxnLst/>
            <a:rect l="l" t="t" r="r" b="b"/>
            <a:pathLst>
              <a:path w="12249089" h="7928501">
                <a:moveTo>
                  <a:pt x="0" y="0"/>
                </a:moveTo>
                <a:lnTo>
                  <a:pt x="12249089" y="0"/>
                </a:lnTo>
                <a:lnTo>
                  <a:pt x="12249089" y="7928502"/>
                </a:lnTo>
                <a:lnTo>
                  <a:pt x="0" y="7928502"/>
                </a:lnTo>
                <a:lnTo>
                  <a:pt x="0" y="0"/>
                </a:lnTo>
                <a:close/>
              </a:path>
            </a:pathLst>
          </a:custGeom>
          <a:blipFill>
            <a:blip r:embed="rId2">
              <a:alphaModFix amt="40000"/>
            </a:blip>
            <a:stretch>
              <a:fillRect/>
            </a:stretch>
          </a:blipFill>
        </p:spPr>
        <p:txBody>
          <a:bodyPr/>
          <a:lstStyle/>
          <a:p>
            <a:endParaRPr lang="en-US"/>
          </a:p>
        </p:txBody>
      </p:sp>
      <p:grpSp>
        <p:nvGrpSpPr>
          <p:cNvPr id="3" name="Group 3"/>
          <p:cNvGrpSpPr/>
          <p:nvPr/>
        </p:nvGrpSpPr>
        <p:grpSpPr>
          <a:xfrm>
            <a:off x="10029508" y="-206665"/>
            <a:ext cx="8462161" cy="10660428"/>
            <a:chOff x="0" y="0"/>
            <a:chExt cx="1311010" cy="1651579"/>
          </a:xfrm>
        </p:grpSpPr>
        <p:sp>
          <p:nvSpPr>
            <p:cNvPr id="4" name="Freeform 4"/>
            <p:cNvSpPr/>
            <p:nvPr/>
          </p:nvSpPr>
          <p:spPr>
            <a:xfrm>
              <a:off x="0" y="0"/>
              <a:ext cx="1311010" cy="1651579"/>
            </a:xfrm>
            <a:custGeom>
              <a:avLst/>
              <a:gdLst/>
              <a:ahLst/>
              <a:cxnLst/>
              <a:rect l="l" t="t" r="r" b="b"/>
              <a:pathLst>
                <a:path w="1311010" h="1651579">
                  <a:moveTo>
                    <a:pt x="0" y="0"/>
                  </a:moveTo>
                  <a:lnTo>
                    <a:pt x="1311010" y="0"/>
                  </a:lnTo>
                  <a:lnTo>
                    <a:pt x="1311010" y="1651579"/>
                  </a:lnTo>
                  <a:lnTo>
                    <a:pt x="0" y="1651579"/>
                  </a:lnTo>
                  <a:close/>
                </a:path>
              </a:pathLst>
            </a:custGeom>
            <a:blipFill>
              <a:blip r:embed="rId3"/>
              <a:stretch>
                <a:fillRect l="-44365" r="-44365"/>
              </a:stretch>
            </a:blipFill>
            <a:ln w="19050" cap="sq">
              <a:solidFill>
                <a:srgbClr val="424242"/>
              </a:solidFill>
              <a:prstDash val="solid"/>
              <a:miter/>
            </a:ln>
          </p:spPr>
          <p:txBody>
            <a:bodyPr/>
            <a:lstStyle/>
            <a:p>
              <a:endParaRPr lang="en-US"/>
            </a:p>
          </p:txBody>
        </p:sp>
      </p:grpSp>
      <p:grpSp>
        <p:nvGrpSpPr>
          <p:cNvPr id="5" name="Group 5"/>
          <p:cNvGrpSpPr/>
          <p:nvPr/>
        </p:nvGrpSpPr>
        <p:grpSpPr>
          <a:xfrm>
            <a:off x="685800" y="2751847"/>
            <a:ext cx="16489920" cy="6267570"/>
            <a:chOff x="0" y="0"/>
            <a:chExt cx="4343024" cy="1070967"/>
          </a:xfrm>
          <a:solidFill>
            <a:schemeClr val="accent1">
              <a:lumMod val="40000"/>
              <a:lumOff val="60000"/>
              <a:alpha val="52000"/>
            </a:schemeClr>
          </a:solidFill>
        </p:grpSpPr>
        <p:sp>
          <p:nvSpPr>
            <p:cNvPr id="6" name="Freeform 6"/>
            <p:cNvSpPr/>
            <p:nvPr/>
          </p:nvSpPr>
          <p:spPr>
            <a:xfrm>
              <a:off x="0" y="0"/>
              <a:ext cx="4343024" cy="1070967"/>
            </a:xfrm>
            <a:custGeom>
              <a:avLst/>
              <a:gdLst/>
              <a:ahLst/>
              <a:cxnLst/>
              <a:rect l="l" t="t" r="r" b="b"/>
              <a:pathLst>
                <a:path w="4343024" h="1070967">
                  <a:moveTo>
                    <a:pt x="30987" y="0"/>
                  </a:moveTo>
                  <a:lnTo>
                    <a:pt x="4312038" y="0"/>
                  </a:lnTo>
                  <a:cubicBezTo>
                    <a:pt x="4320256" y="0"/>
                    <a:pt x="4328137" y="3265"/>
                    <a:pt x="4333949" y="9076"/>
                  </a:cubicBezTo>
                  <a:cubicBezTo>
                    <a:pt x="4339760" y="14887"/>
                    <a:pt x="4343024" y="22768"/>
                    <a:pt x="4343024" y="30987"/>
                  </a:cubicBezTo>
                  <a:lnTo>
                    <a:pt x="4343024" y="1039980"/>
                  </a:lnTo>
                  <a:cubicBezTo>
                    <a:pt x="4343024" y="1048199"/>
                    <a:pt x="4339760" y="1056080"/>
                    <a:pt x="4333949" y="1061891"/>
                  </a:cubicBezTo>
                  <a:cubicBezTo>
                    <a:pt x="4328137" y="1067702"/>
                    <a:pt x="4320256" y="1070967"/>
                    <a:pt x="4312038" y="1070967"/>
                  </a:cubicBezTo>
                  <a:lnTo>
                    <a:pt x="30987" y="1070967"/>
                  </a:lnTo>
                  <a:cubicBezTo>
                    <a:pt x="22768" y="1070967"/>
                    <a:pt x="14887" y="1067702"/>
                    <a:pt x="9076" y="1061891"/>
                  </a:cubicBezTo>
                  <a:cubicBezTo>
                    <a:pt x="3265" y="1056080"/>
                    <a:pt x="0" y="1048199"/>
                    <a:pt x="0" y="1039980"/>
                  </a:cubicBezTo>
                  <a:lnTo>
                    <a:pt x="0" y="30987"/>
                  </a:lnTo>
                  <a:cubicBezTo>
                    <a:pt x="0" y="22768"/>
                    <a:pt x="3265" y="14887"/>
                    <a:pt x="9076" y="9076"/>
                  </a:cubicBezTo>
                  <a:cubicBezTo>
                    <a:pt x="14887" y="3265"/>
                    <a:pt x="22768" y="0"/>
                    <a:pt x="30987" y="0"/>
                  </a:cubicBezTo>
                  <a:close/>
                </a:path>
              </a:pathLst>
            </a:custGeom>
            <a:grpFill/>
            <a:ln w="19050" cap="rnd">
              <a:solidFill>
                <a:srgbClr val="424242"/>
              </a:solidFill>
              <a:prstDash val="solid"/>
              <a:round/>
            </a:ln>
          </p:spPr>
          <p:txBody>
            <a:bodyPr/>
            <a:lstStyle/>
            <a:p>
              <a:endParaRPr lang="en-US"/>
            </a:p>
          </p:txBody>
        </p:sp>
        <p:sp>
          <p:nvSpPr>
            <p:cNvPr id="7" name="TextBox 7"/>
            <p:cNvSpPr txBox="1"/>
            <p:nvPr/>
          </p:nvSpPr>
          <p:spPr>
            <a:xfrm>
              <a:off x="0" y="-28575"/>
              <a:ext cx="4343024" cy="1099542"/>
            </a:xfrm>
            <a:prstGeom prst="rect">
              <a:avLst/>
            </a:prstGeom>
            <a:grpFill/>
          </p:spPr>
          <p:txBody>
            <a:bodyPr lIns="50800" tIns="50800" rIns="50800" bIns="50800" rtlCol="0" anchor="ctr"/>
            <a:lstStyle/>
            <a:p>
              <a:pPr algn="ctr">
                <a:lnSpc>
                  <a:spcPts val="2015"/>
                </a:lnSpc>
              </a:pPr>
              <a:endParaRPr dirty="0"/>
            </a:p>
          </p:txBody>
        </p:sp>
      </p:grpSp>
      <p:sp>
        <p:nvSpPr>
          <p:cNvPr id="8" name="TextBox 8"/>
          <p:cNvSpPr txBox="1"/>
          <p:nvPr/>
        </p:nvSpPr>
        <p:spPr>
          <a:xfrm>
            <a:off x="2711173" y="405563"/>
            <a:ext cx="13496560" cy="1179810"/>
          </a:xfrm>
          <a:prstGeom prst="rect">
            <a:avLst/>
          </a:prstGeom>
        </p:spPr>
        <p:txBody>
          <a:bodyPr wrap="square" lIns="0" tIns="0" rIns="0" bIns="0" rtlCol="0" anchor="t">
            <a:spAutoFit/>
          </a:bodyPr>
          <a:lstStyle/>
          <a:p>
            <a:pPr algn="l">
              <a:lnSpc>
                <a:spcPts val="9212"/>
              </a:lnSpc>
            </a:pPr>
            <a:r>
              <a:rPr lang="en-US" sz="9800" b="1" spc="-460" dirty="0">
                <a:solidFill>
                  <a:srgbClr val="424242"/>
                </a:solidFill>
                <a:latin typeface="Open Sauce Heavy"/>
                <a:ea typeface="Open Sauce Heavy"/>
                <a:cs typeface="Open Sauce Heavy"/>
                <a:sym typeface="Open Sauce Heavy"/>
              </a:rPr>
              <a:t>Our engagement plan:</a:t>
            </a:r>
          </a:p>
        </p:txBody>
      </p:sp>
      <p:sp>
        <p:nvSpPr>
          <p:cNvPr id="9" name="AutoShape 9"/>
          <p:cNvSpPr/>
          <p:nvPr/>
        </p:nvSpPr>
        <p:spPr>
          <a:xfrm flipH="1">
            <a:off x="5894022" y="3458715"/>
            <a:ext cx="41944" cy="5010990"/>
          </a:xfrm>
          <a:prstGeom prst="line">
            <a:avLst/>
          </a:prstGeom>
          <a:ln w="19050" cap="flat">
            <a:solidFill>
              <a:srgbClr val="424242"/>
            </a:solidFill>
            <a:prstDash val="solid"/>
            <a:headEnd type="none" w="sm" len="sm"/>
            <a:tailEnd type="none" w="sm" len="sm"/>
          </a:ln>
        </p:spPr>
        <p:txBody>
          <a:bodyPr/>
          <a:lstStyle/>
          <a:p>
            <a:endParaRPr lang="en-US"/>
          </a:p>
        </p:txBody>
      </p:sp>
      <p:sp>
        <p:nvSpPr>
          <p:cNvPr id="10" name="AutoShape 10"/>
          <p:cNvSpPr/>
          <p:nvPr/>
        </p:nvSpPr>
        <p:spPr>
          <a:xfrm flipH="1">
            <a:off x="10791385" y="3394073"/>
            <a:ext cx="40940" cy="5010990"/>
          </a:xfrm>
          <a:prstGeom prst="line">
            <a:avLst/>
          </a:prstGeom>
          <a:ln w="19050" cap="flat">
            <a:solidFill>
              <a:srgbClr val="424242"/>
            </a:solidFill>
            <a:prstDash val="solid"/>
            <a:headEnd type="none" w="sm" len="sm"/>
            <a:tailEnd type="none" w="sm" len="sm"/>
          </a:ln>
        </p:spPr>
        <p:txBody>
          <a:bodyPr/>
          <a:lstStyle/>
          <a:p>
            <a:endParaRPr lang="en-US"/>
          </a:p>
        </p:txBody>
      </p:sp>
      <p:sp>
        <p:nvSpPr>
          <p:cNvPr id="11" name="TextBox 11"/>
          <p:cNvSpPr txBox="1"/>
          <p:nvPr/>
        </p:nvSpPr>
        <p:spPr>
          <a:xfrm>
            <a:off x="1749765" y="3394527"/>
            <a:ext cx="3640637" cy="452247"/>
          </a:xfrm>
          <a:prstGeom prst="rect">
            <a:avLst/>
          </a:prstGeom>
        </p:spPr>
        <p:txBody>
          <a:bodyPr lIns="0" tIns="0" rIns="0" bIns="0" rtlCol="0" anchor="t">
            <a:spAutoFit/>
          </a:bodyPr>
          <a:lstStyle/>
          <a:p>
            <a:pPr algn="l">
              <a:lnSpc>
                <a:spcPts val="3383"/>
              </a:lnSpc>
            </a:pPr>
            <a:r>
              <a:rPr lang="en-US" sz="3600" b="1" spc="-169" dirty="0">
                <a:solidFill>
                  <a:srgbClr val="424242"/>
                </a:solidFill>
                <a:latin typeface="Open Sauce Heavy"/>
                <a:ea typeface="Open Sauce Heavy"/>
                <a:cs typeface="Open Sauce Heavy"/>
                <a:sym typeface="Open Sauce Heavy"/>
              </a:rPr>
              <a:t>Approach</a:t>
            </a:r>
          </a:p>
        </p:txBody>
      </p:sp>
      <p:sp>
        <p:nvSpPr>
          <p:cNvPr id="12" name="TextBox 12"/>
          <p:cNvSpPr txBox="1"/>
          <p:nvPr/>
        </p:nvSpPr>
        <p:spPr>
          <a:xfrm>
            <a:off x="7335812" y="3347639"/>
            <a:ext cx="3640637" cy="872034"/>
          </a:xfrm>
          <a:prstGeom prst="rect">
            <a:avLst/>
          </a:prstGeom>
        </p:spPr>
        <p:txBody>
          <a:bodyPr lIns="0" tIns="0" rIns="0" bIns="0" rtlCol="0" anchor="t">
            <a:spAutoFit/>
          </a:bodyPr>
          <a:lstStyle/>
          <a:p>
            <a:pPr algn="l">
              <a:lnSpc>
                <a:spcPts val="3383"/>
              </a:lnSpc>
            </a:pPr>
            <a:r>
              <a:rPr lang="en-US" sz="3600" b="1" spc="-169" dirty="0">
                <a:solidFill>
                  <a:srgbClr val="424242"/>
                </a:solidFill>
                <a:latin typeface="Open Sauce Heavy"/>
                <a:ea typeface="Open Sauce Heavy"/>
                <a:cs typeface="Open Sauce Heavy"/>
                <a:sym typeface="Open Sauce Heavy"/>
              </a:rPr>
              <a:t>Stakeholder engagement</a:t>
            </a:r>
          </a:p>
        </p:txBody>
      </p:sp>
      <p:sp>
        <p:nvSpPr>
          <p:cNvPr id="13" name="TextBox 13"/>
          <p:cNvSpPr txBox="1"/>
          <p:nvPr/>
        </p:nvSpPr>
        <p:spPr>
          <a:xfrm>
            <a:off x="898712" y="4367147"/>
            <a:ext cx="4491690" cy="3340915"/>
          </a:xfrm>
          <a:prstGeom prst="rect">
            <a:avLst/>
          </a:prstGeom>
        </p:spPr>
        <p:txBody>
          <a:bodyPr wrap="square" lIns="0" tIns="0" rIns="0" bIns="0" rtlCol="0" anchor="t">
            <a:spAutoFit/>
          </a:bodyPr>
          <a:lstStyle/>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Current state and problem analysis</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Root cause analysis</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Research (student, staff, systems in place, IT)</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Data analysis</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Stakeholder engagement</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Solution design</a:t>
            </a:r>
          </a:p>
        </p:txBody>
      </p:sp>
      <p:sp>
        <p:nvSpPr>
          <p:cNvPr id="15" name="TextBox 15"/>
          <p:cNvSpPr txBox="1"/>
          <p:nvPr/>
        </p:nvSpPr>
        <p:spPr>
          <a:xfrm>
            <a:off x="12916781" y="3394073"/>
            <a:ext cx="3640637" cy="452247"/>
          </a:xfrm>
          <a:prstGeom prst="rect">
            <a:avLst/>
          </a:prstGeom>
        </p:spPr>
        <p:txBody>
          <a:bodyPr lIns="0" tIns="0" rIns="0" bIns="0" rtlCol="0" anchor="t">
            <a:spAutoFit/>
          </a:bodyPr>
          <a:lstStyle/>
          <a:p>
            <a:pPr algn="l">
              <a:lnSpc>
                <a:spcPts val="3383"/>
              </a:lnSpc>
            </a:pPr>
            <a:r>
              <a:rPr lang="en-US" sz="3600" b="1" spc="-169" dirty="0">
                <a:solidFill>
                  <a:srgbClr val="424242"/>
                </a:solidFill>
                <a:latin typeface="Open Sauce Heavy"/>
                <a:ea typeface="Open Sauce Heavy"/>
                <a:cs typeface="Open Sauce Heavy"/>
                <a:sym typeface="Open Sauce Heavy"/>
              </a:rPr>
              <a:t>Delivery plan</a:t>
            </a:r>
          </a:p>
        </p:txBody>
      </p:sp>
      <p:sp>
        <p:nvSpPr>
          <p:cNvPr id="20" name="TextBox 13">
            <a:extLst>
              <a:ext uri="{FF2B5EF4-FFF2-40B4-BE49-F238E27FC236}">
                <a16:creationId xmlns:a16="http://schemas.microsoft.com/office/drawing/2014/main" id="{0CF2E0E3-6456-1DBF-0F8F-F10F42AB9CFC}"/>
              </a:ext>
            </a:extLst>
          </p:cNvPr>
          <p:cNvSpPr txBox="1"/>
          <p:nvPr/>
        </p:nvSpPr>
        <p:spPr>
          <a:xfrm>
            <a:off x="7335812" y="4944233"/>
            <a:ext cx="4491690" cy="1289071"/>
          </a:xfrm>
          <a:prstGeom prst="rect">
            <a:avLst/>
          </a:prstGeom>
        </p:spPr>
        <p:txBody>
          <a:bodyPr wrap="square" lIns="0" tIns="0" rIns="0" bIns="0" rtlCol="0" anchor="t">
            <a:spAutoFit/>
          </a:bodyPr>
          <a:lstStyle/>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Meetings</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Interviews</a:t>
            </a:r>
          </a:p>
          <a:p>
            <a:pPr marL="285750" indent="-285750" algn="l">
              <a:lnSpc>
                <a:spcPts val="1960"/>
              </a:lnSpc>
              <a:buFont typeface="Wingdings" panose="05000000000000000000" pitchFamily="2" charset="2"/>
              <a:buChar char="Ø"/>
            </a:pPr>
            <a:endParaRPr lang="en-US" sz="2400" spc="-65" dirty="0">
              <a:solidFill>
                <a:srgbClr val="424242"/>
              </a:solidFill>
              <a:latin typeface="Open Sauce" panose="020B0604020202020204" charset="0"/>
              <a:ea typeface="Open Sauce Light"/>
              <a:cs typeface="Open Sauce Light"/>
              <a:sym typeface="Open Sauce Light"/>
            </a:endParaRPr>
          </a:p>
          <a:p>
            <a:pPr marL="285750" indent="-285750" algn="l">
              <a:lnSpc>
                <a:spcPts val="1960"/>
              </a:lnSpc>
              <a:buFont typeface="Wingdings" panose="05000000000000000000" pitchFamily="2" charset="2"/>
              <a:buChar char="Ø"/>
            </a:pPr>
            <a:r>
              <a:rPr lang="en-US" sz="2400" spc="-65" dirty="0">
                <a:solidFill>
                  <a:srgbClr val="424242"/>
                </a:solidFill>
                <a:latin typeface="Open Sauce" panose="020B0604020202020204" charset="0"/>
                <a:ea typeface="Open Sauce Light"/>
                <a:cs typeface="Open Sauce Light"/>
                <a:sym typeface="Open Sauce Light"/>
              </a:rPr>
              <a:t>Surveys</a:t>
            </a:r>
          </a:p>
        </p:txBody>
      </p:sp>
      <p:sp>
        <p:nvSpPr>
          <p:cNvPr id="21" name="TextBox 13">
            <a:extLst>
              <a:ext uri="{FF2B5EF4-FFF2-40B4-BE49-F238E27FC236}">
                <a16:creationId xmlns:a16="http://schemas.microsoft.com/office/drawing/2014/main" id="{4FFE95B2-55DD-A93F-5F46-FCEC8128180E}"/>
              </a:ext>
            </a:extLst>
          </p:cNvPr>
          <p:cNvSpPr txBox="1"/>
          <p:nvPr/>
        </p:nvSpPr>
        <p:spPr>
          <a:xfrm>
            <a:off x="12121546" y="4796624"/>
            <a:ext cx="4435872" cy="2070247"/>
          </a:xfrm>
          <a:prstGeom prst="rect">
            <a:avLst/>
          </a:prstGeom>
        </p:spPr>
        <p:txBody>
          <a:bodyPr wrap="square" lIns="0" tIns="0" rIns="0" bIns="0" rtlCol="0" anchor="t">
            <a:spAutoFit/>
          </a:bodyPr>
          <a:lstStyle/>
          <a:p>
            <a:pPr algn="l">
              <a:lnSpc>
                <a:spcPts val="1960"/>
              </a:lnSpc>
            </a:pPr>
            <a:r>
              <a:rPr lang="en-US" sz="2800" spc="-65" dirty="0">
                <a:solidFill>
                  <a:srgbClr val="424242"/>
                </a:solidFill>
                <a:latin typeface="Open Sauce" panose="020B0604020202020204" charset="0"/>
                <a:ea typeface="Open Sauce Light"/>
                <a:cs typeface="Open Sauce Light"/>
                <a:sym typeface="Open Sauce Light"/>
              </a:rPr>
              <a:t>A hybrid agile methodology for the delivery of the centralized student enquiry system</a:t>
            </a:r>
          </a:p>
          <a:p>
            <a:pPr algn="l">
              <a:lnSpc>
                <a:spcPts val="1960"/>
              </a:lnSpc>
            </a:pPr>
            <a:endParaRPr lang="en-US" sz="2800" spc="-65" dirty="0">
              <a:solidFill>
                <a:srgbClr val="424242"/>
              </a:solidFill>
              <a:latin typeface="Open Sauce" panose="020B0604020202020204" charset="0"/>
              <a:ea typeface="Open Sauce Light"/>
              <a:cs typeface="Open Sauce Light"/>
              <a:sym typeface="Open Sauce Light"/>
            </a:endParaRPr>
          </a:p>
          <a:p>
            <a:pPr algn="l">
              <a:lnSpc>
                <a:spcPts val="1960"/>
              </a:lnSpc>
            </a:pPr>
            <a:r>
              <a:rPr lang="en-US" sz="2800" spc="-65" dirty="0">
                <a:solidFill>
                  <a:srgbClr val="424242"/>
                </a:solidFill>
                <a:latin typeface="Open Sauce" panose="020B0604020202020204" charset="0"/>
                <a:ea typeface="Open Sauce Light"/>
                <a:cs typeface="Open Sauce Light"/>
                <a:sym typeface="Open Sauce Light"/>
              </a:rPr>
              <a:t>( a structured plan with iterative phases)</a:t>
            </a:r>
          </a:p>
          <a:p>
            <a:pPr algn="l">
              <a:lnSpc>
                <a:spcPts val="1960"/>
              </a:lnSpc>
            </a:pPr>
            <a:endParaRPr lang="en-US" sz="2800" spc="-65" dirty="0">
              <a:solidFill>
                <a:srgbClr val="424242"/>
              </a:solidFill>
              <a:latin typeface="Open Sauce" panose="020B0604020202020204" charset="0"/>
              <a:ea typeface="Open Sauce Light"/>
              <a:cs typeface="Open Sauce Light"/>
              <a:sym typeface="Open Sauce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inVertical)">
                                      <p:cBhvr>
                                        <p:cTn id="16" dur="500"/>
                                        <p:tgtEl>
                                          <p:spTgt spid="2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arn(inVertical)">
                                      <p:cBhvr>
                                        <p:cTn id="19" dur="500"/>
                                        <p:tgtEl>
                                          <p:spTgt spid="1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Vertical)">
                                      <p:cBhvr>
                                        <p:cTn id="22" dur="500"/>
                                        <p:tgtEl>
                                          <p:spTgt spid="21"/>
                                        </p:tgtEl>
                                      </p:cBhvr>
                                    </p:animEffect>
                                  </p:childTnLst>
                                </p:cTn>
                              </p:par>
                              <p:par>
                                <p:cTn id="23" presetID="16" presetClass="entr" presetSubtype="21"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arn(inVertical)">
                                      <p:cBhvr>
                                        <p:cTn id="28" dur="500"/>
                                        <p:tgtEl>
                                          <p:spTgt spid="9"/>
                                        </p:tgtEl>
                                      </p:cBhvr>
                                    </p:animEffect>
                                  </p:childTnLst>
                                </p:cTn>
                              </p:par>
                              <p:par>
                                <p:cTn id="29" presetID="16" presetClass="entr" presetSubtype="21"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arn(inVertical)">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txBody>
          <a:bodyPr/>
          <a:lstStyle/>
          <a:p>
            <a:endParaRPr lang="en-US"/>
          </a:p>
        </p:txBody>
      </p:sp>
      <p:sp>
        <p:nvSpPr>
          <p:cNvPr id="3" name="AutoShape 3"/>
          <p:cNvSpPr/>
          <p:nvPr/>
        </p:nvSpPr>
        <p:spPr>
          <a:xfrm>
            <a:off x="2118663" y="4029905"/>
            <a:ext cx="17683768" cy="0"/>
          </a:xfrm>
          <a:prstGeom prst="line">
            <a:avLst/>
          </a:prstGeom>
          <a:ln w="57150" cap="flat">
            <a:solidFill>
              <a:srgbClr val="D0D7DD"/>
            </a:solidFill>
            <a:prstDash val="sysDash"/>
            <a:headEnd type="none" w="sm" len="sm"/>
            <a:tailEnd type="none" w="sm" len="sm"/>
          </a:ln>
        </p:spPr>
        <p:txBody>
          <a:bodyPr/>
          <a:lstStyle/>
          <a:p>
            <a:endParaRPr lang="en-US"/>
          </a:p>
        </p:txBody>
      </p:sp>
      <p:grpSp>
        <p:nvGrpSpPr>
          <p:cNvPr id="4" name="Group 4"/>
          <p:cNvGrpSpPr/>
          <p:nvPr/>
        </p:nvGrpSpPr>
        <p:grpSpPr>
          <a:xfrm>
            <a:off x="981077" y="3578182"/>
            <a:ext cx="2894965" cy="941546"/>
            <a:chOff x="0" y="0"/>
            <a:chExt cx="762460" cy="247979"/>
          </a:xfrm>
        </p:grpSpPr>
        <p:sp>
          <p:nvSpPr>
            <p:cNvPr id="5" name="Freeform 5"/>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6" name="TextBox 6"/>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5025140" y="3578182"/>
            <a:ext cx="2894965" cy="941546"/>
            <a:chOff x="0" y="0"/>
            <a:chExt cx="762460" cy="247979"/>
          </a:xfrm>
        </p:grpSpPr>
        <p:sp>
          <p:nvSpPr>
            <p:cNvPr id="8" name="Freeform 8"/>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9" name="TextBox 9"/>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0" name="Group 10"/>
          <p:cNvGrpSpPr/>
          <p:nvPr/>
        </p:nvGrpSpPr>
        <p:grpSpPr>
          <a:xfrm>
            <a:off x="9069203" y="3578182"/>
            <a:ext cx="2894965" cy="941546"/>
            <a:chOff x="0" y="0"/>
            <a:chExt cx="762460" cy="247979"/>
          </a:xfrm>
        </p:grpSpPr>
        <p:sp>
          <p:nvSpPr>
            <p:cNvPr id="11" name="Freeform 11"/>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2" name="TextBox 12"/>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3" name="Group 13"/>
          <p:cNvGrpSpPr/>
          <p:nvPr/>
        </p:nvGrpSpPr>
        <p:grpSpPr>
          <a:xfrm>
            <a:off x="13113265" y="3578182"/>
            <a:ext cx="2894965" cy="941546"/>
            <a:chOff x="0" y="0"/>
            <a:chExt cx="762460" cy="247979"/>
          </a:xfrm>
        </p:grpSpPr>
        <p:sp>
          <p:nvSpPr>
            <p:cNvPr id="14" name="Freeform 14"/>
            <p:cNvSpPr/>
            <p:nvPr/>
          </p:nvSpPr>
          <p:spPr>
            <a:xfrm>
              <a:off x="0" y="0"/>
              <a:ext cx="762460" cy="247979"/>
            </a:xfrm>
            <a:custGeom>
              <a:avLst/>
              <a:gdLst/>
              <a:ahLst/>
              <a:cxnLst/>
              <a:rect l="l" t="t" r="r" b="b"/>
              <a:pathLst>
                <a:path w="762460" h="247979">
                  <a:moveTo>
                    <a:pt x="123990" y="0"/>
                  </a:moveTo>
                  <a:lnTo>
                    <a:pt x="638470" y="0"/>
                  </a:lnTo>
                  <a:cubicBezTo>
                    <a:pt x="706948" y="0"/>
                    <a:pt x="762460" y="55512"/>
                    <a:pt x="762460" y="123990"/>
                  </a:cubicBezTo>
                  <a:lnTo>
                    <a:pt x="762460" y="123990"/>
                  </a:lnTo>
                  <a:cubicBezTo>
                    <a:pt x="762460" y="156874"/>
                    <a:pt x="749397" y="188411"/>
                    <a:pt x="726144" y="211663"/>
                  </a:cubicBezTo>
                  <a:cubicBezTo>
                    <a:pt x="702892" y="234916"/>
                    <a:pt x="671354" y="247979"/>
                    <a:pt x="638470" y="247979"/>
                  </a:cubicBezTo>
                  <a:lnTo>
                    <a:pt x="123990" y="247979"/>
                  </a:lnTo>
                  <a:cubicBezTo>
                    <a:pt x="91106" y="247979"/>
                    <a:pt x="59568" y="234916"/>
                    <a:pt x="36316" y="211663"/>
                  </a:cubicBezTo>
                  <a:cubicBezTo>
                    <a:pt x="13063" y="188411"/>
                    <a:pt x="0" y="156874"/>
                    <a:pt x="0" y="123990"/>
                  </a:cubicBezTo>
                  <a:lnTo>
                    <a:pt x="0" y="123990"/>
                  </a:lnTo>
                  <a:cubicBezTo>
                    <a:pt x="0" y="91106"/>
                    <a:pt x="13063" y="59568"/>
                    <a:pt x="36316" y="36316"/>
                  </a:cubicBezTo>
                  <a:cubicBezTo>
                    <a:pt x="59568" y="13063"/>
                    <a:pt x="91106" y="0"/>
                    <a:pt x="123990" y="0"/>
                  </a:cubicBezTo>
                  <a:close/>
                </a:path>
              </a:pathLst>
            </a:custGeom>
            <a:gradFill rotWithShape="1">
              <a:gsLst>
                <a:gs pos="0">
                  <a:srgbClr val="A0CEFD">
                    <a:alpha val="100000"/>
                  </a:srgbClr>
                </a:gs>
                <a:gs pos="100000">
                  <a:srgbClr val="E4F2FF">
                    <a:alpha val="100000"/>
                  </a:srgbClr>
                </a:gs>
              </a:gsLst>
              <a:lin ang="0"/>
            </a:gradFill>
            <a:ln w="19050" cap="rnd">
              <a:solidFill>
                <a:srgbClr val="FFFFFF"/>
              </a:solidFill>
              <a:prstDash val="solid"/>
              <a:round/>
            </a:ln>
          </p:spPr>
          <p:txBody>
            <a:bodyPr/>
            <a:lstStyle/>
            <a:p>
              <a:endParaRPr lang="en-US"/>
            </a:p>
          </p:txBody>
        </p:sp>
        <p:sp>
          <p:nvSpPr>
            <p:cNvPr id="15" name="TextBox 15"/>
            <p:cNvSpPr txBox="1"/>
            <p:nvPr/>
          </p:nvSpPr>
          <p:spPr>
            <a:xfrm>
              <a:off x="0" y="-28575"/>
              <a:ext cx="762460" cy="276554"/>
            </a:xfrm>
            <a:prstGeom prst="rect">
              <a:avLst/>
            </a:prstGeom>
          </p:spPr>
          <p:txBody>
            <a:bodyPr lIns="50800" tIns="50800" rIns="50800" bIns="50800" rtlCol="0" anchor="ctr"/>
            <a:lstStyle/>
            <a:p>
              <a:pPr algn="ctr">
                <a:lnSpc>
                  <a:spcPts val="2015"/>
                </a:lnSpc>
              </a:pPr>
              <a:endParaRPr/>
            </a:p>
          </p:txBody>
        </p:sp>
      </p:grpSp>
      <p:grpSp>
        <p:nvGrpSpPr>
          <p:cNvPr id="16" name="Group 16"/>
          <p:cNvGrpSpPr/>
          <p:nvPr/>
        </p:nvGrpSpPr>
        <p:grpSpPr>
          <a:xfrm>
            <a:off x="894040" y="4873357"/>
            <a:ext cx="16495548" cy="4547013"/>
            <a:chOff x="0" y="0"/>
            <a:chExt cx="4344507" cy="1197567"/>
          </a:xfrm>
        </p:grpSpPr>
        <p:sp>
          <p:nvSpPr>
            <p:cNvPr id="17" name="Freeform 17"/>
            <p:cNvSpPr/>
            <p:nvPr/>
          </p:nvSpPr>
          <p:spPr>
            <a:xfrm>
              <a:off x="0" y="0"/>
              <a:ext cx="4344507" cy="1197567"/>
            </a:xfrm>
            <a:custGeom>
              <a:avLst/>
              <a:gdLst/>
              <a:ahLst/>
              <a:cxnLst/>
              <a:rect l="l" t="t" r="r" b="b"/>
              <a:pathLst>
                <a:path w="4344507" h="1197567">
                  <a:moveTo>
                    <a:pt x="37547" y="0"/>
                  </a:moveTo>
                  <a:lnTo>
                    <a:pt x="4306960" y="0"/>
                  </a:lnTo>
                  <a:cubicBezTo>
                    <a:pt x="4316918" y="0"/>
                    <a:pt x="4326468" y="3956"/>
                    <a:pt x="4333510" y="10997"/>
                  </a:cubicBezTo>
                  <a:cubicBezTo>
                    <a:pt x="4340551" y="18039"/>
                    <a:pt x="4344507" y="27589"/>
                    <a:pt x="4344507" y="37547"/>
                  </a:cubicBezTo>
                  <a:lnTo>
                    <a:pt x="4344507" y="1160021"/>
                  </a:lnTo>
                  <a:cubicBezTo>
                    <a:pt x="4344507" y="1169979"/>
                    <a:pt x="4340551" y="1179529"/>
                    <a:pt x="4333510" y="1186570"/>
                  </a:cubicBezTo>
                  <a:cubicBezTo>
                    <a:pt x="4326468" y="1193612"/>
                    <a:pt x="4316918" y="1197567"/>
                    <a:pt x="4306960" y="1197567"/>
                  </a:cubicBezTo>
                  <a:lnTo>
                    <a:pt x="37547" y="1197567"/>
                  </a:lnTo>
                  <a:cubicBezTo>
                    <a:pt x="27589" y="1197567"/>
                    <a:pt x="18039" y="1193612"/>
                    <a:pt x="10997" y="1186570"/>
                  </a:cubicBezTo>
                  <a:cubicBezTo>
                    <a:pt x="3956" y="1179529"/>
                    <a:pt x="0" y="1169979"/>
                    <a:pt x="0" y="1160021"/>
                  </a:cubicBezTo>
                  <a:lnTo>
                    <a:pt x="0" y="37547"/>
                  </a:lnTo>
                  <a:cubicBezTo>
                    <a:pt x="0" y="27589"/>
                    <a:pt x="3956" y="18039"/>
                    <a:pt x="10997" y="10997"/>
                  </a:cubicBezTo>
                  <a:cubicBezTo>
                    <a:pt x="18039" y="3956"/>
                    <a:pt x="27589" y="0"/>
                    <a:pt x="37547" y="0"/>
                  </a:cubicBezTo>
                  <a:close/>
                </a:path>
              </a:pathLst>
            </a:custGeom>
            <a:solidFill>
              <a:srgbClr val="424242"/>
            </a:solidFill>
            <a:ln w="19050" cap="rnd">
              <a:solidFill>
                <a:srgbClr val="D0D7DD"/>
              </a:solidFill>
              <a:prstDash val="solid"/>
              <a:round/>
            </a:ln>
          </p:spPr>
          <p:txBody>
            <a:bodyPr/>
            <a:lstStyle/>
            <a:p>
              <a:endParaRPr lang="en-US"/>
            </a:p>
          </p:txBody>
        </p:sp>
        <p:sp>
          <p:nvSpPr>
            <p:cNvPr id="18" name="TextBox 18"/>
            <p:cNvSpPr txBox="1"/>
            <p:nvPr/>
          </p:nvSpPr>
          <p:spPr>
            <a:xfrm>
              <a:off x="0" y="-28575"/>
              <a:ext cx="4344507" cy="1226142"/>
            </a:xfrm>
            <a:prstGeom prst="rect">
              <a:avLst/>
            </a:prstGeom>
          </p:spPr>
          <p:txBody>
            <a:bodyPr lIns="50800" tIns="50800" rIns="50800" bIns="50800" rtlCol="0" anchor="ctr"/>
            <a:lstStyle/>
            <a:p>
              <a:pPr algn="ctr">
                <a:lnSpc>
                  <a:spcPts val="2015"/>
                </a:lnSpc>
              </a:pPr>
              <a:endParaRPr/>
            </a:p>
          </p:txBody>
        </p:sp>
      </p:grpSp>
      <p:sp>
        <p:nvSpPr>
          <p:cNvPr id="19" name="TextBox 19"/>
          <p:cNvSpPr txBox="1"/>
          <p:nvPr/>
        </p:nvSpPr>
        <p:spPr>
          <a:xfrm>
            <a:off x="984504" y="3822810"/>
            <a:ext cx="2888111" cy="525785"/>
          </a:xfrm>
          <a:prstGeom prst="rect">
            <a:avLst/>
          </a:prstGeom>
        </p:spPr>
        <p:txBody>
          <a:bodyPr lIns="0" tIns="0" rIns="0" bIns="0" rtlCol="0" anchor="t">
            <a:spAutoFit/>
          </a:bodyPr>
          <a:lstStyle/>
          <a:p>
            <a:pPr algn="ctr">
              <a:lnSpc>
                <a:spcPts val="4102"/>
              </a:lnSpc>
            </a:pPr>
            <a:r>
              <a:rPr lang="en-US" sz="4364" b="1" spc="-205" dirty="0">
                <a:solidFill>
                  <a:srgbClr val="424242"/>
                </a:solidFill>
                <a:latin typeface="Open Sauce Heavy"/>
                <a:ea typeface="Open Sauce Heavy"/>
                <a:cs typeface="Open Sauce Heavy"/>
                <a:sym typeface="Open Sauce Heavy"/>
              </a:rPr>
              <a:t>1-5 weeks</a:t>
            </a:r>
          </a:p>
        </p:txBody>
      </p:sp>
      <p:sp>
        <p:nvSpPr>
          <p:cNvPr id="20" name="TextBox 20"/>
          <p:cNvSpPr txBox="1"/>
          <p:nvPr/>
        </p:nvSpPr>
        <p:spPr>
          <a:xfrm>
            <a:off x="5025140" y="3822810"/>
            <a:ext cx="2888111" cy="525785"/>
          </a:xfrm>
          <a:prstGeom prst="rect">
            <a:avLst/>
          </a:prstGeom>
        </p:spPr>
        <p:txBody>
          <a:bodyPr lIns="0" tIns="0" rIns="0" bIns="0" rtlCol="0" anchor="t">
            <a:spAutoFit/>
          </a:bodyPr>
          <a:lstStyle/>
          <a:p>
            <a:pPr algn="ctr">
              <a:lnSpc>
                <a:spcPts val="4102"/>
              </a:lnSpc>
            </a:pPr>
            <a:r>
              <a:rPr lang="en-US" sz="4364" b="1" spc="-205" dirty="0">
                <a:solidFill>
                  <a:srgbClr val="424242"/>
                </a:solidFill>
                <a:latin typeface="Open Sauce Heavy"/>
                <a:ea typeface="Open Sauce Heavy"/>
                <a:cs typeface="Open Sauce Heavy"/>
                <a:sym typeface="Open Sauce Heavy"/>
              </a:rPr>
              <a:t>4-7 weeks</a:t>
            </a:r>
          </a:p>
        </p:txBody>
      </p:sp>
      <p:sp>
        <p:nvSpPr>
          <p:cNvPr id="21" name="TextBox 21"/>
          <p:cNvSpPr txBox="1"/>
          <p:nvPr/>
        </p:nvSpPr>
        <p:spPr>
          <a:xfrm>
            <a:off x="9047410" y="3579048"/>
            <a:ext cx="2888111" cy="1051570"/>
          </a:xfrm>
          <a:prstGeom prst="rect">
            <a:avLst/>
          </a:prstGeom>
        </p:spPr>
        <p:txBody>
          <a:bodyPr lIns="0" tIns="0" rIns="0" bIns="0" rtlCol="0" anchor="t">
            <a:spAutoFit/>
          </a:bodyPr>
          <a:lstStyle/>
          <a:p>
            <a:pPr algn="ctr">
              <a:lnSpc>
                <a:spcPts val="4102"/>
              </a:lnSpc>
            </a:pPr>
            <a:r>
              <a:rPr lang="en-US" sz="4364" b="1" spc="-205" dirty="0">
                <a:solidFill>
                  <a:srgbClr val="424242"/>
                </a:solidFill>
                <a:latin typeface="Open Sauce Heavy"/>
                <a:ea typeface="Open Sauce Heavy"/>
                <a:cs typeface="Open Sauce Heavy"/>
                <a:sym typeface="Open Sauce Heavy"/>
              </a:rPr>
              <a:t>6-10 weeks</a:t>
            </a:r>
          </a:p>
        </p:txBody>
      </p:sp>
      <p:sp>
        <p:nvSpPr>
          <p:cNvPr id="22" name="TextBox 22"/>
          <p:cNvSpPr txBox="1"/>
          <p:nvPr/>
        </p:nvSpPr>
        <p:spPr>
          <a:xfrm>
            <a:off x="13106412" y="3840040"/>
            <a:ext cx="2888111" cy="487313"/>
          </a:xfrm>
          <a:prstGeom prst="rect">
            <a:avLst/>
          </a:prstGeom>
        </p:spPr>
        <p:txBody>
          <a:bodyPr lIns="0" tIns="0" rIns="0" bIns="0" rtlCol="0" anchor="t">
            <a:spAutoFit/>
          </a:bodyPr>
          <a:lstStyle/>
          <a:p>
            <a:pPr algn="ctr">
              <a:lnSpc>
                <a:spcPts val="3759"/>
              </a:lnSpc>
            </a:pPr>
            <a:r>
              <a:rPr lang="en-US" sz="3999" b="1" spc="-187" dirty="0">
                <a:solidFill>
                  <a:srgbClr val="424242"/>
                </a:solidFill>
                <a:latin typeface="Open Sauce Heavy"/>
                <a:ea typeface="Open Sauce Heavy"/>
                <a:cs typeface="Open Sauce Heavy"/>
                <a:sym typeface="Open Sauce Heavy"/>
              </a:rPr>
              <a:t>2-4 weeks</a:t>
            </a:r>
          </a:p>
        </p:txBody>
      </p:sp>
      <p:sp>
        <p:nvSpPr>
          <p:cNvPr id="23" name="TextBox 23"/>
          <p:cNvSpPr txBox="1"/>
          <p:nvPr/>
        </p:nvSpPr>
        <p:spPr>
          <a:xfrm>
            <a:off x="5025226" y="719448"/>
            <a:ext cx="16230600" cy="1346522"/>
          </a:xfrm>
          <a:prstGeom prst="rect">
            <a:avLst/>
          </a:prstGeom>
        </p:spPr>
        <p:txBody>
          <a:bodyPr lIns="0" tIns="0" rIns="0" bIns="0" rtlCol="0" anchor="t">
            <a:spAutoFit/>
          </a:bodyPr>
          <a:lstStyle/>
          <a:p>
            <a:pPr algn="l">
              <a:lnSpc>
                <a:spcPts val="10527"/>
              </a:lnSpc>
            </a:pPr>
            <a:r>
              <a:rPr lang="en-US" sz="11199" b="1" spc="-526" dirty="0">
                <a:solidFill>
                  <a:srgbClr val="FFFFFF"/>
                </a:solidFill>
                <a:latin typeface="Open Sauce Heavy"/>
                <a:ea typeface="Open Sauce Heavy"/>
                <a:cs typeface="Open Sauce Heavy"/>
                <a:sym typeface="Open Sauce Heavy"/>
              </a:rPr>
              <a:t>The timeline:</a:t>
            </a:r>
          </a:p>
        </p:txBody>
      </p:sp>
      <p:sp>
        <p:nvSpPr>
          <p:cNvPr id="24" name="TextBox 24"/>
          <p:cNvSpPr txBox="1"/>
          <p:nvPr/>
        </p:nvSpPr>
        <p:spPr>
          <a:xfrm>
            <a:off x="1381019" y="5633287"/>
            <a:ext cx="3347410" cy="961802"/>
          </a:xfrm>
          <a:prstGeom prst="rect">
            <a:avLst/>
          </a:prstGeom>
        </p:spPr>
        <p:txBody>
          <a:bodyPr wrap="square" lIns="0" tIns="0" rIns="0" bIns="0" rtlCol="0" anchor="t">
            <a:spAutoFit/>
          </a:bodyPr>
          <a:lstStyle/>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Current state (As-is)  analysis and requirements gathering</a:t>
            </a:r>
          </a:p>
        </p:txBody>
      </p:sp>
      <p:sp>
        <p:nvSpPr>
          <p:cNvPr id="25" name="TextBox 25"/>
          <p:cNvSpPr txBox="1"/>
          <p:nvPr/>
        </p:nvSpPr>
        <p:spPr>
          <a:xfrm>
            <a:off x="5338031" y="5633287"/>
            <a:ext cx="3347410" cy="641201"/>
          </a:xfrm>
          <a:prstGeom prst="rect">
            <a:avLst/>
          </a:prstGeom>
        </p:spPr>
        <p:txBody>
          <a:bodyPr wrap="square" lIns="0" tIns="0" rIns="0" bIns="0" rtlCol="0" anchor="t">
            <a:spAutoFit/>
          </a:bodyPr>
          <a:lstStyle/>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Solution analysis (To-be) and solution design</a:t>
            </a:r>
          </a:p>
        </p:txBody>
      </p:sp>
      <p:sp>
        <p:nvSpPr>
          <p:cNvPr id="26" name="TextBox 26"/>
          <p:cNvSpPr txBox="1"/>
          <p:nvPr/>
        </p:nvSpPr>
        <p:spPr>
          <a:xfrm>
            <a:off x="9372138" y="5633287"/>
            <a:ext cx="3347410" cy="320601"/>
          </a:xfrm>
          <a:prstGeom prst="rect">
            <a:avLst/>
          </a:prstGeom>
        </p:spPr>
        <p:txBody>
          <a:bodyPr wrap="square" lIns="0" tIns="0" rIns="0" bIns="0" rtlCol="0" anchor="t">
            <a:spAutoFit/>
          </a:bodyPr>
          <a:lstStyle/>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Development.</a:t>
            </a:r>
          </a:p>
        </p:txBody>
      </p:sp>
      <p:sp>
        <p:nvSpPr>
          <p:cNvPr id="27" name="TextBox 27"/>
          <p:cNvSpPr txBox="1"/>
          <p:nvPr/>
        </p:nvSpPr>
        <p:spPr>
          <a:xfrm>
            <a:off x="13406245" y="5633287"/>
            <a:ext cx="3347410" cy="641201"/>
          </a:xfrm>
          <a:prstGeom prst="rect">
            <a:avLst/>
          </a:prstGeom>
        </p:spPr>
        <p:txBody>
          <a:bodyPr wrap="square" lIns="0" tIns="0" rIns="0" bIns="0" rtlCol="0" anchor="t">
            <a:spAutoFit/>
          </a:bodyPr>
          <a:lstStyle/>
          <a:p>
            <a:pPr algn="l">
              <a:lnSpc>
                <a:spcPts val="2520"/>
              </a:lnSpc>
            </a:pPr>
            <a:r>
              <a:rPr lang="en-US" sz="2400" spc="-84" dirty="0">
                <a:solidFill>
                  <a:srgbClr val="FFFFFF"/>
                </a:solidFill>
                <a:latin typeface="Open Sauce" panose="020B0604020202020204" charset="0"/>
                <a:ea typeface="Open Sauce Light"/>
                <a:cs typeface="Open Sauce Light"/>
                <a:sym typeface="Open Sauce Light"/>
              </a:rPr>
              <a:t>Testing and deployment</a:t>
            </a:r>
          </a:p>
        </p:txBody>
      </p:sp>
      <p:sp>
        <p:nvSpPr>
          <p:cNvPr id="28" name="AutoShape 28"/>
          <p:cNvSpPr/>
          <p:nvPr/>
        </p:nvSpPr>
        <p:spPr>
          <a:xfrm flipH="1">
            <a:off x="8726707" y="5490280"/>
            <a:ext cx="0"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29" name="AutoShape 29"/>
          <p:cNvSpPr/>
          <p:nvPr/>
        </p:nvSpPr>
        <p:spPr>
          <a:xfrm flipH="1">
            <a:off x="4731147" y="5490280"/>
            <a:ext cx="0"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30" name="AutoShape 30"/>
          <p:cNvSpPr/>
          <p:nvPr/>
        </p:nvSpPr>
        <p:spPr>
          <a:xfrm>
            <a:off x="12724982" y="5490280"/>
            <a:ext cx="0" cy="3462212"/>
          </a:xfrm>
          <a:prstGeom prst="line">
            <a:avLst/>
          </a:prstGeom>
          <a:ln w="19050" cap="flat">
            <a:solidFill>
              <a:srgbClr val="D0D7DD"/>
            </a:solidFill>
            <a:prstDash val="solid"/>
            <a:headEnd type="none" w="sm" len="sm"/>
            <a:tailEnd type="none" w="sm" len="sm"/>
          </a:ln>
        </p:spPr>
        <p:txBody>
          <a:bodyPr/>
          <a:lstStyle/>
          <a:p>
            <a:endParaRPr lang="en-US"/>
          </a:p>
        </p:txBody>
      </p:sp>
      <p:sp>
        <p:nvSpPr>
          <p:cNvPr id="34" name="TextBox 24">
            <a:extLst>
              <a:ext uri="{FF2B5EF4-FFF2-40B4-BE49-F238E27FC236}">
                <a16:creationId xmlns:a16="http://schemas.microsoft.com/office/drawing/2014/main" id="{64456413-5CF0-512A-061F-8A4650360D60}"/>
              </a:ext>
            </a:extLst>
          </p:cNvPr>
          <p:cNvSpPr txBox="1"/>
          <p:nvPr/>
        </p:nvSpPr>
        <p:spPr>
          <a:xfrm>
            <a:off x="1138889" y="7162447"/>
            <a:ext cx="3347410" cy="1255344"/>
          </a:xfrm>
          <a:prstGeom prst="rect">
            <a:avLst/>
          </a:prstGeom>
        </p:spPr>
        <p:txBody>
          <a:bodyPr wrap="square" lIns="0" tIns="0" rIns="0" bIns="0" rtlCol="0" anchor="t">
            <a:spAutoFit/>
          </a:bodyPr>
          <a:lstStyle/>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Stakeholder engagement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Research</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RCA</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Requirements elicitation </a:t>
            </a:r>
          </a:p>
        </p:txBody>
      </p:sp>
      <p:sp>
        <p:nvSpPr>
          <p:cNvPr id="35" name="TextBox 24">
            <a:extLst>
              <a:ext uri="{FF2B5EF4-FFF2-40B4-BE49-F238E27FC236}">
                <a16:creationId xmlns:a16="http://schemas.microsoft.com/office/drawing/2014/main" id="{C6CA0AF5-B775-FE77-D67C-9533A8509EB0}"/>
              </a:ext>
            </a:extLst>
          </p:cNvPr>
          <p:cNvSpPr txBox="1"/>
          <p:nvPr/>
        </p:nvSpPr>
        <p:spPr>
          <a:xfrm>
            <a:off x="5226114" y="7182654"/>
            <a:ext cx="3347410" cy="1575944"/>
          </a:xfrm>
          <a:prstGeom prst="rect">
            <a:avLst/>
          </a:prstGeom>
        </p:spPr>
        <p:txBody>
          <a:bodyPr wrap="square" lIns="0" tIns="0" rIns="0" bIns="0" rtlCol="0" anchor="t">
            <a:spAutoFit/>
          </a:bodyPr>
          <a:lstStyle/>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Stakeholder engagement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Research</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Wireframes</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Documentation and design</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Data gathering</a:t>
            </a:r>
          </a:p>
        </p:txBody>
      </p:sp>
      <p:sp>
        <p:nvSpPr>
          <p:cNvPr id="36" name="TextBox 24">
            <a:extLst>
              <a:ext uri="{FF2B5EF4-FFF2-40B4-BE49-F238E27FC236}">
                <a16:creationId xmlns:a16="http://schemas.microsoft.com/office/drawing/2014/main" id="{B6537D97-BC75-5B0D-294A-47918E1B684D}"/>
              </a:ext>
            </a:extLst>
          </p:cNvPr>
          <p:cNvSpPr txBox="1"/>
          <p:nvPr/>
        </p:nvSpPr>
        <p:spPr>
          <a:xfrm>
            <a:off x="9212297" y="6886856"/>
            <a:ext cx="3347410" cy="1896545"/>
          </a:xfrm>
          <a:prstGeom prst="rect">
            <a:avLst/>
          </a:prstGeom>
        </p:spPr>
        <p:txBody>
          <a:bodyPr wrap="square" lIns="0" tIns="0" rIns="0" bIns="0" rtlCol="0" anchor="t">
            <a:spAutoFit/>
          </a:bodyPr>
          <a:lstStyle/>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Stakeholder engagement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Research</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Solution development and configuration</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Date pipeline development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System integration</a:t>
            </a:r>
          </a:p>
        </p:txBody>
      </p:sp>
      <p:sp>
        <p:nvSpPr>
          <p:cNvPr id="37" name="TextBox 24">
            <a:extLst>
              <a:ext uri="{FF2B5EF4-FFF2-40B4-BE49-F238E27FC236}">
                <a16:creationId xmlns:a16="http://schemas.microsoft.com/office/drawing/2014/main" id="{FA4F356F-7B01-5BE5-2E77-9710797C04E7}"/>
              </a:ext>
            </a:extLst>
          </p:cNvPr>
          <p:cNvSpPr txBox="1"/>
          <p:nvPr/>
        </p:nvSpPr>
        <p:spPr>
          <a:xfrm>
            <a:off x="13358174" y="6725600"/>
            <a:ext cx="3347410" cy="2217145"/>
          </a:xfrm>
          <a:prstGeom prst="rect">
            <a:avLst/>
          </a:prstGeom>
        </p:spPr>
        <p:txBody>
          <a:bodyPr wrap="square" lIns="0" tIns="0" rIns="0" bIns="0" rtlCol="0" anchor="t">
            <a:spAutoFit/>
          </a:bodyPr>
          <a:lstStyle/>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Stakeholder engagement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User acceptance testing</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System documents (how to use it, how it works)</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Communication</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Deployment</a:t>
            </a:r>
          </a:p>
          <a:p>
            <a:pPr marL="285750" indent="-285750" algn="l">
              <a:lnSpc>
                <a:spcPts val="2520"/>
              </a:lnSpc>
              <a:buFont typeface="Wingdings" panose="05000000000000000000" pitchFamily="2" charset="2"/>
              <a:buChar char="Ø"/>
            </a:pPr>
            <a:r>
              <a:rPr lang="en-US" spc="-84" dirty="0">
                <a:solidFill>
                  <a:srgbClr val="FFFFFF"/>
                </a:solidFill>
                <a:latin typeface="Open Sauce Light" panose="020B0604020202020204" charset="0"/>
                <a:ea typeface="Open Sauce Light"/>
                <a:cs typeface="Open Sauce Light"/>
                <a:sym typeface="Open Sauce Light"/>
              </a:rPr>
              <a:t>Sign-off and monitoring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barn(inVertical)">
                                      <p:cBhvr>
                                        <p:cTn id="10" dur="500"/>
                                        <p:tgtEl>
                                          <p:spTgt spid="3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barn(inVertical)">
                                      <p:cBhvr>
                                        <p:cTn id="13" dur="500"/>
                                        <p:tgtEl>
                                          <p:spTgt spid="35"/>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arn(inVertical)">
                                      <p:cBhvr>
                                        <p:cTn id="16" dur="500"/>
                                        <p:tgtEl>
                                          <p:spTgt spid="2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barn(inVertical)">
                                      <p:cBhvr>
                                        <p:cTn id="19" dur="500"/>
                                        <p:tgtEl>
                                          <p:spTgt spid="2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inVertical)">
                                      <p:cBhvr>
                                        <p:cTn id="22" dur="500"/>
                                        <p:tgtEl>
                                          <p:spTgt spid="3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barn(inVertical)">
                                      <p:cBhvr>
                                        <p:cTn id="25" dur="500"/>
                                        <p:tgtEl>
                                          <p:spTgt spid="2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barn(inVertical)">
                                      <p:cBhvr>
                                        <p:cTn id="28" dur="500"/>
                                        <p:tgtEl>
                                          <p:spTgt spid="37"/>
                                        </p:tgtEl>
                                      </p:cBhvr>
                                    </p:animEffect>
                                  </p:childTnLst>
                                </p:cTn>
                              </p:par>
                              <p:par>
                                <p:cTn id="29" presetID="16" presetClass="entr" presetSubtype="21"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par>
                                <p:cTn id="32" presetID="16" presetClass="entr" presetSubtype="21"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barn(inVertical)">
                                      <p:cBhvr>
                                        <p:cTn id="34" dur="500"/>
                                        <p:tgtEl>
                                          <p:spTgt spid="28"/>
                                        </p:tgtEl>
                                      </p:cBhvr>
                                    </p:animEffect>
                                  </p:childTnLst>
                                </p:cTn>
                              </p:par>
                              <p:par>
                                <p:cTn id="35" presetID="16" presetClass="entr" presetSubtype="21"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arn(inVertical)">
                                      <p:cBhvr>
                                        <p:cTn id="37" dur="500"/>
                                        <p:tgtEl>
                                          <p:spTgt spid="29"/>
                                        </p:tgtEl>
                                      </p:cBhvr>
                                    </p:animEffect>
                                  </p:childTnLst>
                                </p:cTn>
                              </p:par>
                              <p:par>
                                <p:cTn id="38" presetID="16" presetClass="entr" presetSubtype="21"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par>
                                <p:cTn id="55" presetID="10"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childTnLst>
                                </p:cTn>
                              </p:par>
                              <p:par>
                                <p:cTn id="64" presetID="10" presetClass="entr" presetSubtype="0" fill="hold" nodeType="with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4" grpId="0"/>
      <p:bldP spid="25" grpId="0"/>
      <p:bldP spid="26" grpId="0"/>
      <p:bldP spid="27" grpId="0"/>
      <p:bldP spid="34" grpId="0"/>
      <p:bldP spid="35" grpId="0"/>
      <p:bldP spid="36"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925852">
            <a:off x="-2763644" y="1925877"/>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4">
              <a:alphaModFix amt="25000"/>
            </a:blip>
            <a:stretch>
              <a:fillRect/>
            </a:stretch>
          </a:blipFill>
        </p:spPr>
        <p:txBody>
          <a:bodyPr/>
          <a:lstStyle/>
          <a:p>
            <a:endParaRPr lang="en-US"/>
          </a:p>
        </p:txBody>
      </p:sp>
      <p:sp>
        <p:nvSpPr>
          <p:cNvPr id="5" name="Freeform 5"/>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5">
              <a:alphaModFix amt="25000"/>
            </a:blip>
            <a:stretch>
              <a:fillRect/>
            </a:stretch>
          </a:blipFill>
        </p:spPr>
        <p:txBody>
          <a:bodyPr/>
          <a:lstStyle/>
          <a:p>
            <a:endParaRPr lang="en-US"/>
          </a:p>
        </p:txBody>
      </p:sp>
      <p:sp>
        <p:nvSpPr>
          <p:cNvPr id="26" name="TextBox 26"/>
          <p:cNvSpPr txBox="1"/>
          <p:nvPr/>
        </p:nvSpPr>
        <p:spPr>
          <a:xfrm>
            <a:off x="1028699" y="2744398"/>
            <a:ext cx="7681891" cy="2949525"/>
          </a:xfrm>
          <a:prstGeom prst="rect">
            <a:avLst/>
          </a:prstGeom>
        </p:spPr>
        <p:txBody>
          <a:bodyPr wrap="square" lIns="0" tIns="0" rIns="0" bIns="0" rtlCol="0" anchor="t">
            <a:spAutoFit/>
          </a:bodyPr>
          <a:lstStyle/>
          <a:p>
            <a:pPr algn="l">
              <a:lnSpc>
                <a:spcPts val="11464"/>
              </a:lnSpc>
            </a:pPr>
            <a:r>
              <a:rPr lang="en-US" sz="12196" b="1" spc="-573" dirty="0">
                <a:solidFill>
                  <a:srgbClr val="424242"/>
                </a:solidFill>
                <a:latin typeface="Open Sauce Heavy"/>
                <a:ea typeface="Open Sauce Heavy"/>
                <a:cs typeface="Open Sauce Heavy"/>
                <a:sym typeface="Open Sauce Heavy"/>
              </a:rPr>
              <a:t>In summary</a:t>
            </a:r>
          </a:p>
        </p:txBody>
      </p:sp>
      <p:sp>
        <p:nvSpPr>
          <p:cNvPr id="36" name="TextBox 36"/>
          <p:cNvSpPr txBox="1"/>
          <p:nvPr/>
        </p:nvSpPr>
        <p:spPr>
          <a:xfrm>
            <a:off x="9144000" y="5828752"/>
            <a:ext cx="7411274" cy="1925976"/>
          </a:xfrm>
          <a:prstGeom prst="rect">
            <a:avLst/>
          </a:prstGeom>
        </p:spPr>
        <p:txBody>
          <a:bodyPr wrap="square" lIns="0" tIns="0" rIns="0" bIns="0" rtlCol="0" anchor="t">
            <a:spAutoFit/>
          </a:bodyPr>
          <a:lstStyle/>
          <a:p>
            <a:pPr algn="l">
              <a:lnSpc>
                <a:spcPts val="2520"/>
              </a:lnSpc>
            </a:pPr>
            <a:r>
              <a:rPr lang="en-US" sz="2800" spc="-84" dirty="0">
                <a:solidFill>
                  <a:srgbClr val="424242"/>
                </a:solidFill>
                <a:latin typeface="Open Sauce" panose="020B0604020202020204" charset="0"/>
                <a:ea typeface="Open Sauce Light"/>
                <a:cs typeface="Open Sauce Light"/>
                <a:sym typeface="Open Sauce Light"/>
              </a:rPr>
              <a:t>Northbridge University is able to overcome the operational challenges faced regarding student enquiry management by leveraging a technological solution that improves operational efficiency, student experience and visibility.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977201">
            <a:off x="7269653" y="-1509715"/>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42000"/>
            </a:blip>
            <a:stretch>
              <a:fillRect/>
            </a:stretch>
          </a:blipFill>
        </p:spPr>
        <p:txBody>
          <a:bodyPr/>
          <a:lstStyle/>
          <a:p>
            <a:endParaRPr lang="en-US"/>
          </a:p>
        </p:txBody>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txBody>
          <a:bodyPr/>
          <a:lstStyle/>
          <a:p>
            <a:endParaRPr lang="en-US"/>
          </a:p>
        </p:txBody>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1028700" y="3692569"/>
            <a:ext cx="9672886" cy="6055133"/>
          </a:xfrm>
          <a:prstGeom prst="rect">
            <a:avLst/>
          </a:prstGeom>
        </p:spPr>
        <p:txBody>
          <a:bodyPr lIns="0" tIns="0" rIns="0" bIns="0" rtlCol="0" anchor="t">
            <a:spAutoFit/>
          </a:bodyPr>
          <a:lstStyle/>
          <a:p>
            <a:pPr algn="l">
              <a:lnSpc>
                <a:spcPts val="23095"/>
              </a:lnSpc>
            </a:pPr>
            <a:r>
              <a:rPr lang="en-US" sz="24569" b="1" spc="-1154">
                <a:solidFill>
                  <a:srgbClr val="424242"/>
                </a:solidFill>
                <a:latin typeface="Open Sauce Heavy"/>
                <a:ea typeface="Open Sauce Heavy"/>
                <a:cs typeface="Open Sauce Heavy"/>
                <a:sym typeface="Open Sauce Heavy"/>
              </a:rPr>
              <a:t>Thank You</a:t>
            </a:r>
          </a:p>
        </p:txBody>
      </p:sp>
      <p:sp>
        <p:nvSpPr>
          <p:cNvPr id="6" name="AutoShape 6"/>
          <p:cNvSpPr/>
          <p:nvPr/>
        </p:nvSpPr>
        <p:spPr>
          <a:xfrm>
            <a:off x="1045163" y="1480091"/>
            <a:ext cx="16214137" cy="0"/>
          </a:xfrm>
          <a:prstGeom prst="line">
            <a:avLst/>
          </a:prstGeom>
          <a:ln w="19050" cap="flat">
            <a:solidFill>
              <a:srgbClr val="424242"/>
            </a:solidFill>
            <a:prstDash val="solid"/>
            <a:headEnd type="none" w="sm" len="sm"/>
            <a:tailEnd type="none" w="sm" len="sm"/>
          </a:ln>
        </p:spPr>
        <p:txBody>
          <a:bodyPr/>
          <a:lstStyle/>
          <a:p>
            <a:endParaRPr lang="en-US"/>
          </a:p>
        </p:txBody>
      </p:sp>
      <p:sp>
        <p:nvSpPr>
          <p:cNvPr id="13" name="TextBox 13"/>
          <p:cNvSpPr txBox="1"/>
          <p:nvPr/>
        </p:nvSpPr>
        <p:spPr>
          <a:xfrm>
            <a:off x="13809146" y="622579"/>
            <a:ext cx="3450154" cy="281559"/>
          </a:xfrm>
          <a:prstGeom prst="rect">
            <a:avLst/>
          </a:prstGeom>
        </p:spPr>
        <p:txBody>
          <a:bodyPr lIns="0" tIns="0" rIns="0" bIns="0" rtlCol="0" anchor="t">
            <a:spAutoFit/>
          </a:bodyPr>
          <a:lstStyle/>
          <a:p>
            <a:pPr algn="r">
              <a:lnSpc>
                <a:spcPts val="2268"/>
              </a:lnSpc>
            </a:pPr>
            <a:r>
              <a:rPr lang="en-US" sz="1800" b="1" spc="-100">
                <a:solidFill>
                  <a:srgbClr val="424242"/>
                </a:solidFill>
                <a:latin typeface="Open Sauce Bold"/>
                <a:ea typeface="Open Sauce Bold"/>
                <a:cs typeface="Open Sauce Bold"/>
                <a:sym typeface="Open Sauce Bold"/>
              </a:rPr>
              <a:t>Presented by :</a:t>
            </a:r>
          </a:p>
        </p:txBody>
      </p:sp>
      <p:sp>
        <p:nvSpPr>
          <p:cNvPr id="14" name="TextBox 14"/>
          <p:cNvSpPr txBox="1"/>
          <p:nvPr/>
        </p:nvSpPr>
        <p:spPr>
          <a:xfrm>
            <a:off x="13809146" y="920227"/>
            <a:ext cx="3450154" cy="299441"/>
          </a:xfrm>
          <a:prstGeom prst="rect">
            <a:avLst/>
          </a:prstGeom>
        </p:spPr>
        <p:txBody>
          <a:bodyPr lIns="0" tIns="0" rIns="0" bIns="0" rtlCol="0" anchor="t">
            <a:spAutoFit/>
          </a:bodyPr>
          <a:lstStyle/>
          <a:p>
            <a:pPr algn="r">
              <a:lnSpc>
                <a:spcPts val="2520"/>
              </a:lnSpc>
            </a:pPr>
            <a:r>
              <a:rPr lang="en-US" sz="2000" spc="-112" dirty="0">
                <a:solidFill>
                  <a:srgbClr val="424242"/>
                </a:solidFill>
                <a:latin typeface="Open Sauce"/>
                <a:ea typeface="Open Sauce"/>
                <a:cs typeface="Open Sauce"/>
                <a:sym typeface="Open Sauce"/>
              </a:rPr>
              <a:t>Bianca Kubayi</a:t>
            </a:r>
          </a:p>
        </p:txBody>
      </p:sp>
      <p:sp>
        <p:nvSpPr>
          <p:cNvPr id="20" name="TextBox 15">
            <a:extLst>
              <a:ext uri="{FF2B5EF4-FFF2-40B4-BE49-F238E27FC236}">
                <a16:creationId xmlns:a16="http://schemas.microsoft.com/office/drawing/2014/main" id="{045470B5-FE99-DF71-5822-D8F735AE2586}"/>
              </a:ext>
            </a:extLst>
          </p:cNvPr>
          <p:cNvSpPr txBox="1"/>
          <p:nvPr/>
        </p:nvSpPr>
        <p:spPr>
          <a:xfrm>
            <a:off x="7924800" y="8220017"/>
            <a:ext cx="6819538" cy="628377"/>
          </a:xfrm>
          <a:prstGeom prst="rect">
            <a:avLst/>
          </a:prstGeom>
        </p:spPr>
        <p:txBody>
          <a:bodyPr wrap="square" lIns="0" tIns="0" rIns="0" bIns="0" rtlCol="0" anchor="t">
            <a:spAutoFit/>
          </a:bodyPr>
          <a:lstStyle/>
          <a:p>
            <a:pPr algn="l">
              <a:lnSpc>
                <a:spcPts val="4941"/>
              </a:lnSpc>
            </a:pPr>
            <a:r>
              <a:rPr lang="en-US" sz="4400" spc="-219" dirty="0">
                <a:solidFill>
                  <a:srgbClr val="424242"/>
                </a:solidFill>
                <a:latin typeface="Open Sauce Light"/>
                <a:ea typeface="Open Sauce Light"/>
                <a:cs typeface="Open Sauce Light"/>
                <a:sym typeface="Open Sauce Light"/>
              </a:rPr>
              <a:t>Any questions?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TotalTime>
  <Words>1266</Words>
  <Application>Microsoft Office PowerPoint</Application>
  <PresentationFormat>Custom</PresentationFormat>
  <Paragraphs>160</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Wingdings</vt:lpstr>
      <vt:lpstr>Open Sauce Light</vt:lpstr>
      <vt:lpstr>Calibri</vt:lpstr>
      <vt:lpstr>Arial</vt:lpstr>
      <vt:lpstr>Open Sauce Bold</vt:lpstr>
      <vt:lpstr>Open Sauce</vt:lpstr>
      <vt:lpstr>Open Sauce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and Grey Modern Startup Pitch Deck Presentation</dc:title>
  <dc:creator>User</dc:creator>
  <cp:lastModifiedBy>Bianca KUBAYI</cp:lastModifiedBy>
  <cp:revision>4</cp:revision>
  <dcterms:created xsi:type="dcterms:W3CDTF">2006-08-16T00:00:00Z</dcterms:created>
  <dcterms:modified xsi:type="dcterms:W3CDTF">2026-07-08T09:02:25Z</dcterms:modified>
  <dc:identifier>DAHD89OOyLA</dc:identifier>
</cp:coreProperties>
</file>